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32399288" cy="4319905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90DD"/>
    <a:srgbClr val="0BB2C4"/>
    <a:srgbClr val="11C0A9"/>
    <a:srgbClr val="2E75B6"/>
    <a:srgbClr val="E0E6DE"/>
    <a:srgbClr val="3E91C3"/>
    <a:srgbClr val="055E9A"/>
    <a:srgbClr val="66569F"/>
    <a:srgbClr val="6C62A0"/>
    <a:srgbClr val="614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74"/>
    <p:restoredTop sz="95964"/>
  </p:normalViewPr>
  <p:slideViewPr>
    <p:cSldViewPr snapToGrid="0">
      <p:cViewPr varScale="1">
        <p:scale>
          <a:sx n="11" d="100"/>
          <a:sy n="11" d="100"/>
        </p:scale>
        <p:origin x="2270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1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650" y="7071126"/>
            <a:ext cx="27547379" cy="15042392"/>
          </a:xfrm>
        </p:spPr>
        <p:txBody>
          <a:bodyPr anchor="b"/>
          <a:lstStyle>
            <a:lvl1pPr algn="ctr">
              <a:defRPr sz="212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1085" y="22693609"/>
            <a:ext cx="24306511" cy="10431653"/>
          </a:xfrm>
        </p:spPr>
        <p:txBody>
          <a:bodyPr/>
          <a:lstStyle>
            <a:lvl1pPr marL="0" indent="0" algn="ctr">
              <a:buNone/>
              <a:defRPr sz="8510"/>
            </a:lvl1pPr>
            <a:lvl2pPr marL="1617345" indent="0" algn="ctr">
              <a:buNone/>
              <a:defRPr sz="7065"/>
            </a:lvl2pPr>
            <a:lvl3pPr marL="3242945" indent="0" algn="ctr">
              <a:buNone/>
              <a:defRPr sz="6370"/>
            </a:lvl3pPr>
            <a:lvl4pPr marL="4860290" indent="0" algn="ctr">
              <a:buNone/>
              <a:defRPr sz="5670"/>
            </a:lvl4pPr>
            <a:lvl5pPr marL="6484620" indent="0" algn="ctr">
              <a:buNone/>
              <a:defRPr sz="5670"/>
            </a:lvl5pPr>
            <a:lvl6pPr marL="8102600" indent="0" algn="ctr">
              <a:buNone/>
              <a:defRPr sz="5670"/>
            </a:lvl6pPr>
            <a:lvl7pPr marL="9719945" indent="0" algn="ctr">
              <a:buNone/>
              <a:defRPr sz="5670"/>
            </a:lvl7pPr>
            <a:lvl8pPr marL="11344910" indent="0" algn="ctr">
              <a:buNone/>
              <a:defRPr sz="5670"/>
            </a:lvl8pPr>
            <a:lvl9pPr marL="12962255" indent="0" algn="ctr">
              <a:buNone/>
              <a:defRPr sz="567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1219" y="10771725"/>
            <a:ext cx="27952488" cy="17972851"/>
          </a:xfrm>
        </p:spPr>
        <p:txBody>
          <a:bodyPr anchor="b"/>
          <a:lstStyle>
            <a:lvl1pPr>
              <a:defRPr sz="212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1219" y="28914604"/>
            <a:ext cx="27952488" cy="9451498"/>
          </a:xfrm>
        </p:spPr>
        <p:txBody>
          <a:bodyPr/>
          <a:lstStyle>
            <a:lvl1pPr marL="0" indent="0">
              <a:buNone/>
              <a:defRPr sz="8510">
                <a:solidFill>
                  <a:schemeClr val="tx1"/>
                </a:solidFill>
              </a:defRPr>
            </a:lvl1pPr>
            <a:lvl2pPr marL="1617345" indent="0">
              <a:buNone/>
              <a:defRPr sz="7065">
                <a:solidFill>
                  <a:schemeClr val="tx1">
                    <a:tint val="75000"/>
                  </a:schemeClr>
                </a:solidFill>
              </a:defRPr>
            </a:lvl2pPr>
            <a:lvl3pPr marL="3242945" indent="0">
              <a:buNone/>
              <a:defRPr sz="6370">
                <a:solidFill>
                  <a:schemeClr val="tx1">
                    <a:tint val="75000"/>
                  </a:schemeClr>
                </a:solidFill>
              </a:defRPr>
            </a:lvl3pPr>
            <a:lvl4pPr marL="486029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4pPr>
            <a:lvl5pPr marL="648462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5pPr>
            <a:lvl6pPr marL="810260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6pPr>
            <a:lvl7pPr marL="9719945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7pPr>
            <a:lvl8pPr marL="1134491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8pPr>
            <a:lvl9pPr marL="12962255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8099" y="11501827"/>
            <a:ext cx="13773690" cy="274143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6897" y="11501827"/>
            <a:ext cx="13773690" cy="274143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319" y="2300375"/>
            <a:ext cx="27952488" cy="835132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2319" y="10591688"/>
            <a:ext cx="13710389" cy="5190822"/>
          </a:xfrm>
        </p:spPr>
        <p:txBody>
          <a:bodyPr anchor="b"/>
          <a:lstStyle>
            <a:lvl1pPr marL="0" indent="0">
              <a:buNone/>
              <a:defRPr sz="8510" b="1"/>
            </a:lvl1pPr>
            <a:lvl2pPr marL="1617345" indent="0">
              <a:buNone/>
              <a:defRPr sz="7065" b="1"/>
            </a:lvl2pPr>
            <a:lvl3pPr marL="3242945" indent="0">
              <a:buNone/>
              <a:defRPr sz="6370" b="1"/>
            </a:lvl3pPr>
            <a:lvl4pPr marL="4860290" indent="0">
              <a:buNone/>
              <a:defRPr sz="5670" b="1"/>
            </a:lvl4pPr>
            <a:lvl5pPr marL="6484620" indent="0">
              <a:buNone/>
              <a:defRPr sz="5670" b="1"/>
            </a:lvl5pPr>
            <a:lvl6pPr marL="8102600" indent="0">
              <a:buNone/>
              <a:defRPr sz="5670" b="1"/>
            </a:lvl6pPr>
            <a:lvl7pPr marL="9719945" indent="0">
              <a:buNone/>
              <a:defRPr sz="5670" b="1"/>
            </a:lvl7pPr>
            <a:lvl8pPr marL="11344910" indent="0">
              <a:buNone/>
              <a:defRPr sz="5670" b="1"/>
            </a:lvl8pPr>
            <a:lvl9pPr marL="12962255" indent="0">
              <a:buNone/>
              <a:defRPr sz="567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2319" y="15782509"/>
            <a:ext cx="13710389" cy="232136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6897" y="10591688"/>
            <a:ext cx="13777910" cy="5190822"/>
          </a:xfrm>
        </p:spPr>
        <p:txBody>
          <a:bodyPr anchor="b"/>
          <a:lstStyle>
            <a:lvl1pPr marL="0" indent="0">
              <a:buNone/>
              <a:defRPr sz="8510" b="1"/>
            </a:lvl1pPr>
            <a:lvl2pPr marL="1617345" indent="0">
              <a:buNone/>
              <a:defRPr sz="7065" b="1"/>
            </a:lvl2pPr>
            <a:lvl3pPr marL="3242945" indent="0">
              <a:buNone/>
              <a:defRPr sz="6370" b="1"/>
            </a:lvl3pPr>
            <a:lvl4pPr marL="4860290" indent="0">
              <a:buNone/>
              <a:defRPr sz="5670" b="1"/>
            </a:lvl4pPr>
            <a:lvl5pPr marL="6484620" indent="0">
              <a:buNone/>
              <a:defRPr sz="5670" b="1"/>
            </a:lvl5pPr>
            <a:lvl6pPr marL="8102600" indent="0">
              <a:buNone/>
              <a:defRPr sz="5670" b="1"/>
            </a:lvl6pPr>
            <a:lvl7pPr marL="9719945" indent="0">
              <a:buNone/>
              <a:defRPr sz="5670" b="1"/>
            </a:lvl7pPr>
            <a:lvl8pPr marL="11344910" indent="0">
              <a:buNone/>
              <a:defRPr sz="5670" b="1"/>
            </a:lvl8pPr>
            <a:lvl9pPr marL="12962255" indent="0">
              <a:buNone/>
              <a:defRPr sz="567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6897" y="15782509"/>
            <a:ext cx="13777910" cy="232136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319" y="2880457"/>
            <a:ext cx="10452646" cy="10081602"/>
          </a:xfrm>
        </p:spPr>
        <p:txBody>
          <a:bodyPr anchor="b"/>
          <a:lstStyle>
            <a:lvl1pPr>
              <a:defRPr sz="113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7910" y="6220999"/>
            <a:ext cx="16406897" cy="30704879"/>
          </a:xfrm>
        </p:spPr>
        <p:txBody>
          <a:bodyPr/>
          <a:lstStyle>
            <a:lvl1pPr>
              <a:defRPr sz="11345"/>
            </a:lvl1pPr>
            <a:lvl2pPr>
              <a:defRPr sz="9900"/>
            </a:lvl2pPr>
            <a:lvl3pPr>
              <a:defRPr sz="8510"/>
            </a:lvl3pPr>
            <a:lvl4pPr>
              <a:defRPr sz="7065"/>
            </a:lvl4pPr>
            <a:lvl5pPr>
              <a:defRPr sz="7065"/>
            </a:lvl5pPr>
            <a:lvl6pPr>
              <a:defRPr sz="7065"/>
            </a:lvl6pPr>
            <a:lvl7pPr>
              <a:defRPr sz="7065"/>
            </a:lvl7pPr>
            <a:lvl8pPr>
              <a:defRPr sz="7065"/>
            </a:lvl8pPr>
            <a:lvl9pPr>
              <a:defRPr sz="70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2319" y="12962059"/>
            <a:ext cx="10452646" cy="24013818"/>
          </a:xfrm>
        </p:spPr>
        <p:txBody>
          <a:bodyPr/>
          <a:lstStyle>
            <a:lvl1pPr marL="0" indent="0">
              <a:buNone/>
              <a:defRPr sz="5670"/>
            </a:lvl1pPr>
            <a:lvl2pPr marL="1617345" indent="0">
              <a:buNone/>
              <a:defRPr sz="4975"/>
            </a:lvl2pPr>
            <a:lvl3pPr marL="3242945" indent="0">
              <a:buNone/>
              <a:defRPr sz="4225"/>
            </a:lvl3pPr>
            <a:lvl4pPr marL="4860290" indent="0">
              <a:buNone/>
              <a:defRPr sz="3530"/>
            </a:lvl4pPr>
            <a:lvl5pPr marL="6484620" indent="0">
              <a:buNone/>
              <a:defRPr sz="3530"/>
            </a:lvl5pPr>
            <a:lvl6pPr marL="8102600" indent="0">
              <a:buNone/>
              <a:defRPr sz="3530"/>
            </a:lvl6pPr>
            <a:lvl7pPr marL="9719945" indent="0">
              <a:buNone/>
              <a:defRPr sz="3530"/>
            </a:lvl7pPr>
            <a:lvl8pPr marL="11344910" indent="0">
              <a:buNone/>
              <a:defRPr sz="3530"/>
            </a:lvl8pPr>
            <a:lvl9pPr marL="12962255" indent="0">
              <a:buNone/>
              <a:defRPr sz="35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319" y="2880457"/>
            <a:ext cx="10452646" cy="10081602"/>
          </a:xfrm>
        </p:spPr>
        <p:txBody>
          <a:bodyPr anchor="b"/>
          <a:lstStyle>
            <a:lvl1pPr>
              <a:defRPr sz="113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7910" y="6220999"/>
            <a:ext cx="16406897" cy="30704879"/>
          </a:xfrm>
        </p:spPr>
        <p:txBody>
          <a:bodyPr anchor="t"/>
          <a:lstStyle>
            <a:lvl1pPr marL="0" indent="0">
              <a:buNone/>
              <a:defRPr sz="11345"/>
            </a:lvl1pPr>
            <a:lvl2pPr marL="1617345" indent="0">
              <a:buNone/>
              <a:defRPr sz="9900"/>
            </a:lvl2pPr>
            <a:lvl3pPr marL="3242945" indent="0">
              <a:buNone/>
              <a:defRPr sz="8510"/>
            </a:lvl3pPr>
            <a:lvl4pPr marL="4860290" indent="0">
              <a:buNone/>
              <a:defRPr sz="7065"/>
            </a:lvl4pPr>
            <a:lvl5pPr marL="6484620" indent="0">
              <a:buNone/>
              <a:defRPr sz="7065"/>
            </a:lvl5pPr>
            <a:lvl6pPr marL="8102600" indent="0">
              <a:buNone/>
              <a:defRPr sz="7065"/>
            </a:lvl6pPr>
            <a:lvl7pPr marL="9719945" indent="0">
              <a:buNone/>
              <a:defRPr sz="7065"/>
            </a:lvl7pPr>
            <a:lvl8pPr marL="11344910" indent="0">
              <a:buNone/>
              <a:defRPr sz="7065"/>
            </a:lvl8pPr>
            <a:lvl9pPr marL="12962255" indent="0">
              <a:buNone/>
              <a:defRPr sz="70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2319" y="12962059"/>
            <a:ext cx="10452646" cy="24013818"/>
          </a:xfrm>
        </p:spPr>
        <p:txBody>
          <a:bodyPr/>
          <a:lstStyle>
            <a:lvl1pPr marL="0" indent="0">
              <a:buNone/>
              <a:defRPr sz="5670"/>
            </a:lvl1pPr>
            <a:lvl2pPr marL="1617345" indent="0">
              <a:buNone/>
              <a:defRPr sz="4975"/>
            </a:lvl2pPr>
            <a:lvl3pPr marL="3242945" indent="0">
              <a:buNone/>
              <a:defRPr sz="4225"/>
            </a:lvl3pPr>
            <a:lvl4pPr marL="4860290" indent="0">
              <a:buNone/>
              <a:defRPr sz="3530"/>
            </a:lvl4pPr>
            <a:lvl5pPr marL="6484620" indent="0">
              <a:buNone/>
              <a:defRPr sz="3530"/>
            </a:lvl5pPr>
            <a:lvl6pPr marL="8102600" indent="0">
              <a:buNone/>
              <a:defRPr sz="3530"/>
            </a:lvl6pPr>
            <a:lvl7pPr marL="9719945" indent="0">
              <a:buNone/>
              <a:defRPr sz="3530"/>
            </a:lvl7pPr>
            <a:lvl8pPr marL="11344910" indent="0">
              <a:buNone/>
              <a:defRPr sz="3530"/>
            </a:lvl8pPr>
            <a:lvl9pPr marL="12962255" indent="0">
              <a:buNone/>
              <a:defRPr sz="35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92466" y="2300367"/>
            <a:ext cx="6988122" cy="3661582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8099" y="2300367"/>
            <a:ext cx="20559258" cy="366158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8099" y="2300375"/>
            <a:ext cx="27952488" cy="8351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8099" y="11501827"/>
            <a:ext cx="27952488" cy="27414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8099" y="40046372"/>
            <a:ext cx="7291953" cy="2300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262EF-B24D-F24A-BB41-ACA235934A60}" type="datetimeFigureOut">
              <a:rPr kumimoji="1" lang="zh-CN" altLang="en-US" smtClean="0"/>
              <a:t>2026/4/29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5378" y="40046372"/>
            <a:ext cx="10937930" cy="2300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8634" y="40046372"/>
            <a:ext cx="7291953" cy="2300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003A3-D470-FA42-A4BD-1C4222FC30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242945" rtl="0" eaLnBrk="1" latinLnBrk="0" hangingPunct="1">
        <a:lnSpc>
          <a:spcPct val="90000"/>
        </a:lnSpc>
        <a:spcBef>
          <a:spcPct val="0"/>
        </a:spcBef>
        <a:buNone/>
        <a:defRPr sz="15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8990" indent="-808990" algn="l" defTabSz="3242945" rtl="0" eaLnBrk="1" latinLnBrk="0" hangingPunct="1">
        <a:lnSpc>
          <a:spcPct val="90000"/>
        </a:lnSpc>
        <a:spcBef>
          <a:spcPts val="3555"/>
        </a:spcBef>
        <a:buFont typeface="Arial" panose="020B060402020209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1pPr>
      <a:lvl2pPr marL="2433320" indent="-808990" algn="l" defTabSz="3242945" rtl="0" eaLnBrk="1" latinLnBrk="0" hangingPunct="1">
        <a:lnSpc>
          <a:spcPct val="90000"/>
        </a:lnSpc>
        <a:spcBef>
          <a:spcPts val="1775"/>
        </a:spcBef>
        <a:buFont typeface="Arial" panose="020B0604020202090204" pitchFamily="34" charset="0"/>
        <a:buChar char="•"/>
        <a:defRPr sz="8510" kern="1200">
          <a:solidFill>
            <a:schemeClr val="tx1"/>
          </a:solidFill>
          <a:latin typeface="+mn-lt"/>
          <a:ea typeface="+mn-ea"/>
          <a:cs typeface="+mn-cs"/>
        </a:defRPr>
      </a:lvl2pPr>
      <a:lvl3pPr marL="4050665" indent="-808990" algn="l" defTabSz="3242945" rtl="0" eaLnBrk="1" latinLnBrk="0" hangingPunct="1">
        <a:lnSpc>
          <a:spcPct val="90000"/>
        </a:lnSpc>
        <a:spcBef>
          <a:spcPts val="1775"/>
        </a:spcBef>
        <a:buFont typeface="Arial" panose="020B0604020202090204" pitchFamily="34" charset="0"/>
        <a:buChar char="•"/>
        <a:defRPr sz="7065" kern="1200">
          <a:solidFill>
            <a:schemeClr val="tx1"/>
          </a:solidFill>
          <a:latin typeface="+mn-lt"/>
          <a:ea typeface="+mn-ea"/>
          <a:cs typeface="+mn-cs"/>
        </a:defRPr>
      </a:lvl3pPr>
      <a:lvl4pPr marL="5669280" indent="-808990" algn="l" defTabSz="3242945" rtl="0" eaLnBrk="1" latinLnBrk="0" hangingPunct="1">
        <a:lnSpc>
          <a:spcPct val="90000"/>
        </a:lnSpc>
        <a:spcBef>
          <a:spcPts val="1775"/>
        </a:spcBef>
        <a:buFont typeface="Arial" panose="020B0604020202090204" pitchFamily="34" charset="0"/>
        <a:buChar char="•"/>
        <a:defRPr sz="6370" kern="1200">
          <a:solidFill>
            <a:schemeClr val="tx1"/>
          </a:solidFill>
          <a:latin typeface="+mn-lt"/>
          <a:ea typeface="+mn-ea"/>
          <a:cs typeface="+mn-cs"/>
        </a:defRPr>
      </a:lvl4pPr>
      <a:lvl5pPr marL="7293610" indent="-808990" algn="l" defTabSz="3242945" rtl="0" eaLnBrk="1" latinLnBrk="0" hangingPunct="1">
        <a:lnSpc>
          <a:spcPct val="90000"/>
        </a:lnSpc>
        <a:spcBef>
          <a:spcPts val="1775"/>
        </a:spcBef>
        <a:buFont typeface="Arial" panose="020B0604020202090204" pitchFamily="34" charset="0"/>
        <a:buChar char="•"/>
        <a:defRPr sz="6370" kern="1200">
          <a:solidFill>
            <a:schemeClr val="tx1"/>
          </a:solidFill>
          <a:latin typeface="+mn-lt"/>
          <a:ea typeface="+mn-ea"/>
          <a:cs typeface="+mn-cs"/>
        </a:defRPr>
      </a:lvl5pPr>
      <a:lvl6pPr marL="8910955" indent="-808990" algn="l" defTabSz="3242945" rtl="0" eaLnBrk="1" latinLnBrk="0" hangingPunct="1">
        <a:lnSpc>
          <a:spcPct val="90000"/>
        </a:lnSpc>
        <a:spcBef>
          <a:spcPts val="1775"/>
        </a:spcBef>
        <a:buFont typeface="Arial" panose="020B0604020202090204" pitchFamily="34" charset="0"/>
        <a:buChar char="•"/>
        <a:defRPr sz="6370" kern="1200">
          <a:solidFill>
            <a:schemeClr val="tx1"/>
          </a:solidFill>
          <a:latin typeface="+mn-lt"/>
          <a:ea typeface="+mn-ea"/>
          <a:cs typeface="+mn-cs"/>
        </a:defRPr>
      </a:lvl6pPr>
      <a:lvl7pPr marL="10535920" indent="-808990" algn="l" defTabSz="3242945" rtl="0" eaLnBrk="1" latinLnBrk="0" hangingPunct="1">
        <a:lnSpc>
          <a:spcPct val="90000"/>
        </a:lnSpc>
        <a:spcBef>
          <a:spcPts val="1775"/>
        </a:spcBef>
        <a:buFont typeface="Arial" panose="020B0604020202090204" pitchFamily="34" charset="0"/>
        <a:buChar char="•"/>
        <a:defRPr sz="6370" kern="1200">
          <a:solidFill>
            <a:schemeClr val="tx1"/>
          </a:solidFill>
          <a:latin typeface="+mn-lt"/>
          <a:ea typeface="+mn-ea"/>
          <a:cs typeface="+mn-cs"/>
        </a:defRPr>
      </a:lvl7pPr>
      <a:lvl8pPr marL="12153265" indent="-808990" algn="l" defTabSz="3242945" rtl="0" eaLnBrk="1" latinLnBrk="0" hangingPunct="1">
        <a:lnSpc>
          <a:spcPct val="90000"/>
        </a:lnSpc>
        <a:spcBef>
          <a:spcPts val="1775"/>
        </a:spcBef>
        <a:buFont typeface="Arial" panose="020B0604020202090204" pitchFamily="34" charset="0"/>
        <a:buChar char="•"/>
        <a:defRPr sz="6370" kern="1200">
          <a:solidFill>
            <a:schemeClr val="tx1"/>
          </a:solidFill>
          <a:latin typeface="+mn-lt"/>
          <a:ea typeface="+mn-ea"/>
          <a:cs typeface="+mn-cs"/>
        </a:defRPr>
      </a:lvl8pPr>
      <a:lvl9pPr marL="13771245" indent="-808990" algn="l" defTabSz="3242945" rtl="0" eaLnBrk="1" latinLnBrk="0" hangingPunct="1">
        <a:lnSpc>
          <a:spcPct val="90000"/>
        </a:lnSpc>
        <a:spcBef>
          <a:spcPts val="1775"/>
        </a:spcBef>
        <a:buFont typeface="Arial" panose="020B0604020202090204" pitchFamily="34" charset="0"/>
        <a:buChar char="•"/>
        <a:defRPr sz="6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1pPr>
      <a:lvl2pPr marL="1617345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2pPr>
      <a:lvl3pPr marL="3242945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3pPr>
      <a:lvl4pPr marL="4860290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4pPr>
      <a:lvl5pPr marL="6484620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5pPr>
      <a:lvl6pPr marL="8102600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6pPr>
      <a:lvl7pPr marL="9719945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7pPr>
      <a:lvl8pPr marL="11344910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8pPr>
      <a:lvl9pPr marL="12962255" algn="l" defTabSz="3242945" rtl="0" eaLnBrk="1" latinLnBrk="0" hangingPunct="1">
        <a:defRPr sz="6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4.xml"/><Relationship Id="rId7" Type="http://schemas.openxmlformats.org/officeDocument/2006/relationships/hyperlink" Target="mailto:xuechaozou@bjtu.edu.cn" TargetMode="External"/><Relationship Id="rId12" Type="http://schemas.openxmlformats.org/officeDocument/2006/relationships/image" Target="../media/image6.svg"/><Relationship Id="rId17" Type="http://schemas.openxmlformats.org/officeDocument/2006/relationships/image" Target="../media/image11.png"/><Relationship Id="rId2" Type="http://schemas.openxmlformats.org/officeDocument/2006/relationships/tags" Target="../tags/tag3.xml"/><Relationship Id="rId16" Type="http://schemas.openxmlformats.org/officeDocument/2006/relationships/image" Target="../media/image10.svg"/><Relationship Id="rId20" Type="http://schemas.openxmlformats.org/officeDocument/2006/relationships/image" Target="../media/image14.png"/><Relationship Id="rId1" Type="http://schemas.openxmlformats.org/officeDocument/2006/relationships/tags" Target="../tags/tag2.xml"/><Relationship Id="rId6" Type="http://schemas.openxmlformats.org/officeDocument/2006/relationships/image" Target="../media/image1.jpeg"/><Relationship Id="rId11" Type="http://schemas.openxmlformats.org/officeDocument/2006/relationships/image" Target="../media/image5.pn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9.svg"/><Relationship Id="rId10" Type="http://schemas.openxmlformats.org/officeDocument/2006/relationships/image" Target="../media/image4.sv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3286967" y="9350587"/>
            <a:ext cx="1079968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Arilal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549823" y="1458947"/>
            <a:ext cx="25278313" cy="4210777"/>
          </a:xfrm>
        </p:spPr>
        <p:txBody>
          <a:bodyPr>
            <a:noAutofit/>
          </a:bodyPr>
          <a:lstStyle/>
          <a:p>
            <a:pPr algn="ctr"/>
            <a:r>
              <a:rPr sz="7000" b="1" dirty="0">
                <a:solidFill>
                  <a:srgbClr val="FFFFFF"/>
                </a:solidFill>
                <a:latin typeface="Arilal"/>
                <a:sym typeface="+mn-ea"/>
              </a:rPr>
              <a:t>Dynamic Dictionary Learning for</a:t>
            </a:r>
            <a:br>
              <a:rPr lang="zh-CN" altLang="en-US" sz="7000" b="1" dirty="0">
                <a:solidFill>
                  <a:srgbClr val="FFFFFF"/>
                </a:solidFill>
                <a:latin typeface="Arilal"/>
              </a:rPr>
            </a:br>
            <a:r>
              <a:rPr sz="7000" b="1" dirty="0">
                <a:solidFill>
                  <a:srgbClr val="FFFFFF"/>
                </a:solidFill>
                <a:latin typeface="Arilal"/>
                <a:sym typeface="+mn-ea"/>
              </a:rPr>
              <a:t>Remote Sensing Image Segmentation</a:t>
            </a:r>
            <a:br>
              <a:rPr lang="en-US" sz="60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</a:br>
            <a:br>
              <a:rPr lang="en-US" sz="48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</a:br>
            <a:r>
              <a:rPr lang="en-US" altLang="zh-CN" sz="48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Xuechao Zou, Yue Li, Shun Zhang, Kai Li, Shiying Wang, Pin Tao, </a:t>
            </a:r>
            <a:r>
              <a:rPr lang="en-US" altLang="zh-CN" sz="4800" b="1" dirty="0" err="1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Junliang</a:t>
            </a:r>
            <a:r>
              <a:rPr lang="en-US" altLang="zh-CN" sz="48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 Xing, </a:t>
            </a:r>
            <a:r>
              <a:rPr lang="en-US" altLang="zh-CN" sz="4800" b="1" dirty="0" err="1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Congyan</a:t>
            </a:r>
            <a:r>
              <a:rPr lang="en-US" altLang="zh-CN" sz="48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 Lang</a:t>
            </a:r>
            <a:br>
              <a:rPr lang="en-US" altLang="zh-CN" sz="48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</a:br>
            <a:br>
              <a:rPr lang="en-US" altLang="zh-CN" sz="48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</a:br>
            <a:r>
              <a:rPr lang="en-US" altLang="zh-CN" sz="48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 </a:t>
            </a:r>
            <a:r>
              <a:rPr lang="en-US" altLang="zh-CN" sz="4800" b="1" dirty="0">
                <a:solidFill>
                  <a:srgbClr val="FFFFFF"/>
                </a:solidFill>
                <a:latin typeface="Arilal"/>
              </a:rPr>
              <a:t>Beijing </a:t>
            </a:r>
            <a:r>
              <a:rPr lang="en-US" altLang="zh-CN" sz="4800" b="1" dirty="0" err="1">
                <a:solidFill>
                  <a:srgbClr val="FFFFFF"/>
                </a:solidFill>
                <a:latin typeface="Arilal"/>
              </a:rPr>
              <a:t>Jiaotong</a:t>
            </a:r>
            <a:r>
              <a:rPr lang="en-US" altLang="zh-CN" sz="4800" b="1" dirty="0">
                <a:solidFill>
                  <a:srgbClr val="FFFFFF"/>
                </a:solidFill>
                <a:latin typeface="Arilal"/>
              </a:rPr>
              <a:t> University  |  Qinghai University  |  Tsinghua University</a:t>
            </a:r>
            <a:endParaRPr lang="en-US" altLang="zh-CN" sz="5200" b="1" dirty="0">
              <a:solidFill>
                <a:schemeClr val="bg1"/>
              </a:solidFill>
              <a:latin typeface="Arilal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20" name="Rectangle 22"/>
          <p:cNvSpPr/>
          <p:nvPr/>
        </p:nvSpPr>
        <p:spPr>
          <a:xfrm>
            <a:off x="1197571" y="6581927"/>
            <a:ext cx="14609765" cy="1362104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3E91C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300" dirty="0">
              <a:ln>
                <a:solidFill>
                  <a:schemeClr val="tx1"/>
                </a:solidFill>
              </a:ln>
              <a:latin typeface="Arilal"/>
              <a:cs typeface="Arial" panose="020B0604020202090204" pitchFamily="34" charset="0"/>
            </a:endParaRPr>
          </a:p>
        </p:txBody>
      </p:sp>
      <p:sp>
        <p:nvSpPr>
          <p:cNvPr id="27" name="Title 1"/>
          <p:cNvSpPr txBox="1"/>
          <p:nvPr/>
        </p:nvSpPr>
        <p:spPr>
          <a:xfrm>
            <a:off x="1159472" y="6054865"/>
            <a:ext cx="8830298" cy="1280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vert="horz" wrap="square" lIns="395144" tIns="197567" rIns="395144" bIns="197567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zh-CN" sz="5200" b="1" dirty="0">
                <a:solidFill>
                  <a:srgbClr val="FFFFFF"/>
                </a:solidFill>
                <a:latin typeface="Arial" panose="020B0604020202090204"/>
              </a:rPr>
              <a:t>1️⃣Motivation &amp; Pipeline</a:t>
            </a:r>
          </a:p>
        </p:txBody>
      </p:sp>
      <p:sp>
        <p:nvSpPr>
          <p:cNvPr id="29" name="Rectangle 49"/>
          <p:cNvSpPr/>
          <p:nvPr/>
        </p:nvSpPr>
        <p:spPr>
          <a:xfrm>
            <a:off x="1197571" y="35477600"/>
            <a:ext cx="29982818" cy="4747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2E75B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200" b="1" dirty="0">
              <a:solidFill>
                <a:schemeClr val="tx1"/>
              </a:solidFill>
              <a:latin typeface="Arilal"/>
              <a:ea typeface="+mj-ea"/>
              <a:cs typeface="Arial" panose="020B0604020202090204" pitchFamily="34" charset="0"/>
            </a:endParaRPr>
          </a:p>
        </p:txBody>
      </p:sp>
      <p:sp>
        <p:nvSpPr>
          <p:cNvPr id="30" name="Title 1"/>
          <p:cNvSpPr txBox="1"/>
          <p:nvPr/>
        </p:nvSpPr>
        <p:spPr>
          <a:xfrm>
            <a:off x="1197570" y="34916248"/>
            <a:ext cx="10636367" cy="11992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vert="horz" wrap="square" lIns="395144" tIns="197567" rIns="395144" bIns="197567" rtlCol="0" anchor="t" anchorCtr="0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2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  <a:sym typeface="+mn-ea"/>
              </a:rPr>
              <a:t>5️⃣Embedding Visualization (t-SNE)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193316" y="7780307"/>
            <a:ext cx="14558702" cy="413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4500" dirty="0">
                <a:latin typeface="Arilal"/>
                <a:ea typeface="宋体" pitchFamily="2" charset="-122"/>
                <a:cs typeface="Arial" panose="020B0604020202090204" pitchFamily="34" charset="0"/>
                <a:sym typeface="+mn-ea"/>
              </a:rPr>
              <a:t>Remote sensing image segmentation is challenged by intra-class variation and inter-class similarity. D2LS learns adaptive and discriminative class embeddings with a dynamic dictionary learning framework.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970820" y="36560262"/>
            <a:ext cx="3770006" cy="2720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500" b="1" dirty="0">
                <a:latin typeface="Arilal"/>
              </a:rPr>
              <a:t>Our code is publicly available!</a:t>
            </a:r>
            <a:endParaRPr lang="zh-CN" altLang="zh-CN" sz="4500" b="1" dirty="0">
              <a:latin typeface="Arilal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34" name="Rectangle 22"/>
          <p:cNvSpPr/>
          <p:nvPr/>
        </p:nvSpPr>
        <p:spPr>
          <a:xfrm>
            <a:off x="16643015" y="6581927"/>
            <a:ext cx="14609765" cy="1362104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3E91C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300" dirty="0">
              <a:ln>
                <a:solidFill>
                  <a:schemeClr val="tx1"/>
                </a:solidFill>
              </a:ln>
              <a:latin typeface="Arilal"/>
              <a:cs typeface="Arial" panose="020B0604020202090204" pitchFamily="34" charset="0"/>
            </a:endParaRPr>
          </a:p>
        </p:txBody>
      </p:sp>
      <p:sp>
        <p:nvSpPr>
          <p:cNvPr id="35" name="Title 1"/>
          <p:cNvSpPr txBox="1"/>
          <p:nvPr/>
        </p:nvSpPr>
        <p:spPr>
          <a:xfrm>
            <a:off x="16604914" y="6054865"/>
            <a:ext cx="8830800" cy="1195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vert="horz" wrap="square" lIns="395144" tIns="197567" rIns="395144" bIns="197567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2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2️⃣Network Architecture</a:t>
            </a:r>
          </a:p>
        </p:txBody>
      </p:sp>
      <p:sp>
        <p:nvSpPr>
          <p:cNvPr id="37" name="Rectangle 22"/>
          <p:cNvSpPr/>
          <p:nvPr/>
        </p:nvSpPr>
        <p:spPr>
          <a:xfrm>
            <a:off x="1197571" y="20945942"/>
            <a:ext cx="14609765" cy="1362104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3E91C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300" dirty="0">
              <a:ln>
                <a:solidFill>
                  <a:schemeClr val="tx1"/>
                </a:solidFill>
              </a:ln>
              <a:latin typeface="Arilal"/>
              <a:cs typeface="Arial" panose="020B0604020202090204" pitchFamily="34" charset="0"/>
            </a:endParaRPr>
          </a:p>
        </p:txBody>
      </p:sp>
      <p:sp>
        <p:nvSpPr>
          <p:cNvPr id="38" name="Title 1"/>
          <p:cNvSpPr txBox="1"/>
          <p:nvPr/>
        </p:nvSpPr>
        <p:spPr>
          <a:xfrm>
            <a:off x="1159470" y="20418879"/>
            <a:ext cx="8830800" cy="1195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vert="horz" wrap="square" lIns="395144" tIns="197567" rIns="395144" bIns="197567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2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3️⃣Experimental Results</a:t>
            </a:r>
          </a:p>
        </p:txBody>
      </p:sp>
      <p:sp>
        <p:nvSpPr>
          <p:cNvPr id="40" name="Rectangle 22"/>
          <p:cNvSpPr/>
          <p:nvPr/>
        </p:nvSpPr>
        <p:spPr>
          <a:xfrm>
            <a:off x="16643015" y="20945942"/>
            <a:ext cx="14609765" cy="1362104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3E91C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300" dirty="0">
              <a:ln>
                <a:solidFill>
                  <a:schemeClr val="tx1"/>
                </a:solidFill>
              </a:ln>
              <a:latin typeface="Arilal"/>
              <a:cs typeface="Arial" panose="020B0604020202090204" pitchFamily="34" charset="0"/>
            </a:endParaRPr>
          </a:p>
        </p:txBody>
      </p:sp>
      <p:sp>
        <p:nvSpPr>
          <p:cNvPr id="41" name="Title 1"/>
          <p:cNvSpPr txBox="1"/>
          <p:nvPr/>
        </p:nvSpPr>
        <p:spPr>
          <a:xfrm>
            <a:off x="16604913" y="20418879"/>
            <a:ext cx="8830800" cy="1195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vert="horz" wrap="square" lIns="395144" tIns="197567" rIns="395144" bIns="197567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2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4️⃣Ablation Studies</a:t>
            </a:r>
          </a:p>
        </p:txBody>
      </p:sp>
      <p:sp>
        <p:nvSpPr>
          <p:cNvPr id="43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68361" y="39788710"/>
            <a:ext cx="27379261" cy="3373829"/>
          </a:xfrm>
          <a:prstGeom prst="rect">
            <a:avLst/>
          </a:prstGeom>
        </p:spPr>
        <p:txBody>
          <a:bodyPr vert="horz" lIns="91442" tIns="45721" rIns="91442" bIns="45721" rtlCol="0" anchor="ctr">
            <a:noAutofit/>
          </a:bodyPr>
          <a:lstStyle>
            <a:lvl1pPr algn="l" defTabSz="32423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5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7000" b="1" dirty="0">
                <a:solidFill>
                  <a:srgbClr val="055E9A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                                       </a:t>
            </a:r>
          </a:p>
        </p:txBody>
      </p:sp>
      <p:sp>
        <p:nvSpPr>
          <p:cNvPr id="4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788270" y="40786951"/>
            <a:ext cx="26493788" cy="1789469"/>
          </a:xfrm>
          <a:prstGeom prst="rect">
            <a:avLst/>
          </a:prstGeom>
        </p:spPr>
        <p:txBody>
          <a:bodyPr vert="horz" lIns="91442" tIns="45721" rIns="91442" bIns="45721" rtlCol="0" anchor="ctr">
            <a:noAutofit/>
          </a:bodyPr>
          <a:lstStyle>
            <a:lvl1pPr algn="l" defTabSz="32423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5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52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E-MAIL:</a:t>
            </a:r>
            <a:r>
              <a:rPr lang="zh-CN" altLang="en-US" sz="52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 </a:t>
            </a:r>
            <a:r>
              <a:rPr lang="en-US" altLang="zh-CN" sz="52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xuechaozou@bjtu.edu.cn</a:t>
            </a:r>
            <a:r>
              <a:rPr lang="en-US" altLang="zh-CN" sz="5200" b="1" dirty="0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  |  WeChat ID: </a:t>
            </a:r>
            <a:r>
              <a:rPr lang="en-US" altLang="zh-CN" sz="5200" b="1" dirty="0" err="1">
                <a:solidFill>
                  <a:schemeClr val="bg1"/>
                </a:solidFill>
                <a:latin typeface="Arilal"/>
                <a:ea typeface="宋体" pitchFamily="2" charset="-122"/>
                <a:cs typeface="Arial" panose="020B0604020202090204" pitchFamily="34" charset="0"/>
              </a:rPr>
              <a:t>XavierJiezou</a:t>
            </a:r>
            <a:endParaRPr lang="en-US" altLang="zh-CN" sz="5200" b="1" dirty="0">
              <a:solidFill>
                <a:schemeClr val="bg1"/>
              </a:solidFill>
              <a:latin typeface="Arilal"/>
              <a:ea typeface="宋体" pitchFamily="2" charset="-122"/>
              <a:cs typeface="Arial" panose="020B0604020202090204" pitchFamily="34" charset="0"/>
            </a:endParaRPr>
          </a:p>
        </p:txBody>
      </p:sp>
      <p:pic>
        <p:nvPicPr>
          <p:cNvPr id="6" name="图片 5" descr="物料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69545" y="1328420"/>
            <a:ext cx="5683250" cy="149034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C320057B-5AC3-DB8A-E5E7-207619F2EDDB}"/>
              </a:ext>
            </a:extLst>
          </p:cNvPr>
          <p:cNvGrpSpPr/>
          <p:nvPr/>
        </p:nvGrpSpPr>
        <p:grpSpPr>
          <a:xfrm>
            <a:off x="1146493" y="993592"/>
            <a:ext cx="6847393" cy="2160000"/>
            <a:chOff x="606805" y="957925"/>
            <a:chExt cx="6847393" cy="2160000"/>
          </a:xfrm>
        </p:grpSpPr>
        <p:pic>
          <p:nvPicPr>
            <p:cNvPr id="4" name="图片 3" descr="/Users/xuechao/Downloads/校徽及校名-PNG格式/校徽反白稿.png校徽反白稿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606805" y="957925"/>
              <a:ext cx="2160000" cy="2160000"/>
            </a:xfrm>
            <a:prstGeom prst="rect">
              <a:avLst/>
            </a:prstGeom>
          </p:spPr>
        </p:pic>
        <p:pic>
          <p:nvPicPr>
            <p:cNvPr id="5" name="图片 4" descr="/Users/xuechao/Downloads/thu-logo-reversed-white.svgthu-logo-reversed-whit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>
            <a:xfrm>
              <a:off x="5295017" y="957925"/>
              <a:ext cx="2159181" cy="2160000"/>
            </a:xfrm>
            <a:prstGeom prst="rect">
              <a:avLst/>
            </a:prstGeom>
          </p:spPr>
        </p:pic>
        <p:pic>
          <p:nvPicPr>
            <p:cNvPr id="8" name="图片 7" descr="qinghai-university-emblem-reversed-whit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951592" y="957925"/>
              <a:ext cx="2158637" cy="2160000"/>
            </a:xfrm>
            <a:prstGeom prst="rect">
              <a:avLst/>
            </a:prstGeom>
          </p:spPr>
        </p:pic>
      </p:grpSp>
      <p:pic>
        <p:nvPicPr>
          <p:cNvPr id="248" name="图形 247">
            <a:extLst>
              <a:ext uri="{FF2B5EF4-FFF2-40B4-BE49-F238E27FC236}">
                <a16:creationId xmlns:a16="http://schemas.microsoft.com/office/drawing/2014/main" id="{27B022AB-A9AD-6A54-AE95-FBAD2150E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35578" y="11914982"/>
            <a:ext cx="13874179" cy="8020095"/>
          </a:xfrm>
          <a:prstGeom prst="rect">
            <a:avLst/>
          </a:prstGeom>
        </p:spPr>
      </p:pic>
      <p:pic>
        <p:nvPicPr>
          <p:cNvPr id="249" name="Picture 51" descr="qr_project.png">
            <a:extLst>
              <a:ext uri="{FF2B5EF4-FFF2-40B4-BE49-F238E27FC236}">
                <a16:creationId xmlns:a16="http://schemas.microsoft.com/office/drawing/2014/main" id="{4C0BA2D8-65F0-C50D-700E-FDDA56DCEC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6554" y="36336882"/>
            <a:ext cx="3533216" cy="3533216"/>
          </a:xfrm>
          <a:prstGeom prst="rect">
            <a:avLst/>
          </a:prstGeom>
        </p:spPr>
      </p:pic>
      <p:pic>
        <p:nvPicPr>
          <p:cNvPr id="251" name="图形 250">
            <a:extLst>
              <a:ext uri="{FF2B5EF4-FFF2-40B4-BE49-F238E27FC236}">
                <a16:creationId xmlns:a16="http://schemas.microsoft.com/office/drawing/2014/main" id="{E5404052-252E-B374-41ED-695C27410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86419" y="7997375"/>
            <a:ext cx="13999158" cy="4220605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4B6D1728-B3A0-1A1B-DFB5-66ADE354872D}"/>
              </a:ext>
            </a:extLst>
          </p:cNvPr>
          <p:cNvSpPr txBox="1"/>
          <p:nvPr/>
        </p:nvSpPr>
        <p:spPr>
          <a:xfrm>
            <a:off x="16681116" y="12663541"/>
            <a:ext cx="14609765" cy="7256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4500" b="1" dirty="0">
                <a:latin typeface="Arilal"/>
                <a:ea typeface="宋体" pitchFamily="2" charset="-122"/>
                <a:cs typeface="Arial" panose="020B0604020202090204" pitchFamily="34" charset="0"/>
                <a:sym typeface="+mn-ea"/>
              </a:rPr>
              <a:t>Method Highlights</a:t>
            </a:r>
          </a:p>
          <a:p>
            <a:pPr marL="685800" indent="-685800" fontAlgn="auto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4500" dirty="0">
                <a:latin typeface="Arilal"/>
                <a:ea typeface="宋体" pitchFamily="2" charset="-122"/>
                <a:cs typeface="Arial" panose="020B0604020202090204" pitchFamily="34" charset="0"/>
                <a:sym typeface="+mn-ea"/>
              </a:rPr>
              <a:t>Dynamic and class-aware dictionaries with contrastive learning for stronger class separability.</a:t>
            </a:r>
          </a:p>
          <a:p>
            <a:pPr marL="685800" indent="-685800" fontAlgn="auto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4500" dirty="0">
                <a:latin typeface="Arilal"/>
                <a:ea typeface="宋体" pitchFamily="2" charset="-122"/>
                <a:cs typeface="Arial" panose="020B0604020202090204" pitchFamily="34" charset="0"/>
                <a:sym typeface="+mn-ea"/>
              </a:rPr>
              <a:t>A modulator converts static dictionaries into input-specific dynamic dictionaries.</a:t>
            </a:r>
          </a:p>
          <a:p>
            <a:pPr marL="685800" indent="-685800" fontAlgn="auto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4500" dirty="0">
                <a:latin typeface="Arilal"/>
                <a:ea typeface="宋体" pitchFamily="2" charset="-122"/>
                <a:cs typeface="Arial" panose="020B0604020202090204" pitchFamily="34" charset="0"/>
                <a:sym typeface="+mn-ea"/>
              </a:rPr>
              <a:t>Multi-stage alternating cross-attention progressively refines features and embeddings.</a:t>
            </a:r>
          </a:p>
        </p:txBody>
      </p:sp>
      <p:sp>
        <p:nvSpPr>
          <p:cNvPr id="253" name="Shape 202">
            <a:extLst>
              <a:ext uri="{FF2B5EF4-FFF2-40B4-BE49-F238E27FC236}">
                <a16:creationId xmlns:a16="http://schemas.microsoft.com/office/drawing/2014/main" id="{95978C91-4F26-4C70-877B-B50467DF13EB}"/>
              </a:ext>
            </a:extLst>
          </p:cNvPr>
          <p:cNvSpPr/>
          <p:nvPr/>
        </p:nvSpPr>
        <p:spPr>
          <a:xfrm>
            <a:off x="1535578" y="23065583"/>
            <a:ext cx="3146721" cy="3677392"/>
          </a:xfrm>
          <a:prstGeom prst="roundRect">
            <a:avLst>
              <a:gd name="adj" fmla="val 4902"/>
            </a:avLst>
          </a:prstGeom>
          <a:noFill/>
          <a:ln w="12700">
            <a:solidFill>
              <a:srgbClr val="1A90DD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4" name="Shape 203">
            <a:extLst>
              <a:ext uri="{FF2B5EF4-FFF2-40B4-BE49-F238E27FC236}">
                <a16:creationId xmlns:a16="http://schemas.microsoft.com/office/drawing/2014/main" id="{C13A00E8-B9D5-29D1-B02B-D757F7098669}"/>
              </a:ext>
            </a:extLst>
          </p:cNvPr>
          <p:cNvSpPr/>
          <p:nvPr/>
        </p:nvSpPr>
        <p:spPr>
          <a:xfrm>
            <a:off x="1535578" y="23065583"/>
            <a:ext cx="3146721" cy="901322"/>
          </a:xfrm>
          <a:prstGeom prst="rect">
            <a:avLst/>
          </a:prstGeom>
          <a:solidFill>
            <a:srgbClr val="1A90DD"/>
          </a:solidFill>
          <a:ln w="12700">
            <a:solidFill>
              <a:srgbClr val="087C90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Text 204">
            <a:extLst>
              <a:ext uri="{FF2B5EF4-FFF2-40B4-BE49-F238E27FC236}">
                <a16:creationId xmlns:a16="http://schemas.microsoft.com/office/drawing/2014/main" id="{7059EB77-AA7D-2015-70C4-F785ABB291F2}"/>
              </a:ext>
            </a:extLst>
          </p:cNvPr>
          <p:cNvSpPr/>
          <p:nvPr/>
        </p:nvSpPr>
        <p:spPr>
          <a:xfrm>
            <a:off x="1621398" y="23173742"/>
            <a:ext cx="2975082" cy="721057"/>
          </a:xfrm>
          <a:prstGeom prst="rect">
            <a:avLst/>
          </a:prstGeom>
          <a:solidFill>
            <a:srgbClr val="1A90DD"/>
          </a:solidFill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LoveDA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(mIoU, %)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Text 205">
            <a:extLst>
              <a:ext uri="{FF2B5EF4-FFF2-40B4-BE49-F238E27FC236}">
                <a16:creationId xmlns:a16="http://schemas.microsoft.com/office/drawing/2014/main" id="{23AEA8FB-D205-505A-9006-7164A7E2BABC}"/>
              </a:ext>
            </a:extLst>
          </p:cNvPr>
          <p:cNvSpPr/>
          <p:nvPr/>
        </p:nvSpPr>
        <p:spPr>
          <a:xfrm>
            <a:off x="1821644" y="24183221"/>
            <a:ext cx="2574589" cy="5407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Method        mIoU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7" name="Text 206">
            <a:extLst>
              <a:ext uri="{FF2B5EF4-FFF2-40B4-BE49-F238E27FC236}">
                <a16:creationId xmlns:a16="http://schemas.microsoft.com/office/drawing/2014/main" id="{CB0E4534-B1C9-253E-0370-0F56FAD08E03}"/>
              </a:ext>
            </a:extLst>
          </p:cNvPr>
          <p:cNvSpPr/>
          <p:nvPr/>
        </p:nvSpPr>
        <p:spPr>
          <a:xfrm>
            <a:off x="1764430" y="24832172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AerialFormer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Text 207">
            <a:extLst>
              <a:ext uri="{FF2B5EF4-FFF2-40B4-BE49-F238E27FC236}">
                <a16:creationId xmlns:a16="http://schemas.microsoft.com/office/drawing/2014/main" id="{F6299527-9A5E-89DE-FC50-046783EDB824}"/>
              </a:ext>
            </a:extLst>
          </p:cNvPr>
          <p:cNvSpPr/>
          <p:nvPr/>
        </p:nvSpPr>
        <p:spPr>
          <a:xfrm>
            <a:off x="3595250" y="24832172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54.1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9" name="Text 208">
            <a:extLst>
              <a:ext uri="{FF2B5EF4-FFF2-40B4-BE49-F238E27FC236}">
                <a16:creationId xmlns:a16="http://schemas.microsoft.com/office/drawing/2014/main" id="{285AC71A-4A3C-AC3F-9260-C9A42A056A00}"/>
              </a:ext>
            </a:extLst>
          </p:cNvPr>
          <p:cNvSpPr/>
          <p:nvPr/>
        </p:nvSpPr>
        <p:spPr>
          <a:xfrm>
            <a:off x="1764430" y="25409019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SFA-Net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Text 209">
            <a:extLst>
              <a:ext uri="{FF2B5EF4-FFF2-40B4-BE49-F238E27FC236}">
                <a16:creationId xmlns:a16="http://schemas.microsoft.com/office/drawing/2014/main" id="{BEF76239-440B-7CE5-3197-9A92975120A7}"/>
              </a:ext>
            </a:extLst>
          </p:cNvPr>
          <p:cNvSpPr/>
          <p:nvPr/>
        </p:nvSpPr>
        <p:spPr>
          <a:xfrm>
            <a:off x="3595250" y="25409019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54.9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1" name="Text 210">
            <a:extLst>
              <a:ext uri="{FF2B5EF4-FFF2-40B4-BE49-F238E27FC236}">
                <a16:creationId xmlns:a16="http://schemas.microsoft.com/office/drawing/2014/main" id="{3EFB8279-2A43-0E99-BB5F-7B7B1025632C}"/>
              </a:ext>
            </a:extLst>
          </p:cNvPr>
          <p:cNvSpPr/>
          <p:nvPr/>
        </p:nvSpPr>
        <p:spPr>
          <a:xfrm>
            <a:off x="1764430" y="25985865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D2LS (Ours)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Text 211">
            <a:extLst>
              <a:ext uri="{FF2B5EF4-FFF2-40B4-BE49-F238E27FC236}">
                <a16:creationId xmlns:a16="http://schemas.microsoft.com/office/drawing/2014/main" id="{E31EC5B7-DCC1-1294-FF65-B7AC252FD424}"/>
              </a:ext>
            </a:extLst>
          </p:cNvPr>
          <p:cNvSpPr/>
          <p:nvPr/>
        </p:nvSpPr>
        <p:spPr>
          <a:xfrm>
            <a:off x="3595250" y="25985865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55.3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Shape 212">
            <a:extLst>
              <a:ext uri="{FF2B5EF4-FFF2-40B4-BE49-F238E27FC236}">
                <a16:creationId xmlns:a16="http://schemas.microsoft.com/office/drawing/2014/main" id="{CDAA132D-2F8B-81CD-193D-9EDA5BCF9B8B}"/>
              </a:ext>
            </a:extLst>
          </p:cNvPr>
          <p:cNvSpPr/>
          <p:nvPr/>
        </p:nvSpPr>
        <p:spPr>
          <a:xfrm>
            <a:off x="5111397" y="23065583"/>
            <a:ext cx="3146721" cy="3677392"/>
          </a:xfrm>
          <a:prstGeom prst="roundRect">
            <a:avLst>
              <a:gd name="adj" fmla="val 4902"/>
            </a:avLst>
          </a:prstGeom>
          <a:noFill/>
          <a:ln w="12700">
            <a:solidFill>
              <a:srgbClr val="1A90DD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Shape 213">
            <a:extLst>
              <a:ext uri="{FF2B5EF4-FFF2-40B4-BE49-F238E27FC236}">
                <a16:creationId xmlns:a16="http://schemas.microsoft.com/office/drawing/2014/main" id="{7D195069-54B6-8A30-DC49-2CCA791401EF}"/>
              </a:ext>
            </a:extLst>
          </p:cNvPr>
          <p:cNvSpPr/>
          <p:nvPr/>
        </p:nvSpPr>
        <p:spPr>
          <a:xfrm>
            <a:off x="5111397" y="23065583"/>
            <a:ext cx="3146721" cy="901322"/>
          </a:xfrm>
          <a:prstGeom prst="rect">
            <a:avLst/>
          </a:prstGeom>
          <a:solidFill>
            <a:srgbClr val="1A90DD"/>
          </a:solidFill>
          <a:ln w="12700">
            <a:solidFill>
              <a:srgbClr val="087C90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5" name="Text 214">
            <a:extLst>
              <a:ext uri="{FF2B5EF4-FFF2-40B4-BE49-F238E27FC236}">
                <a16:creationId xmlns:a16="http://schemas.microsoft.com/office/drawing/2014/main" id="{7A9D6A0A-DAFE-2193-4A9B-920541B857EA}"/>
              </a:ext>
            </a:extLst>
          </p:cNvPr>
          <p:cNvSpPr/>
          <p:nvPr/>
        </p:nvSpPr>
        <p:spPr>
          <a:xfrm>
            <a:off x="5197217" y="23173742"/>
            <a:ext cx="2975082" cy="721057"/>
          </a:xfrm>
          <a:prstGeom prst="rect">
            <a:avLst/>
          </a:prstGeom>
          <a:solidFill>
            <a:srgbClr val="1A90DD"/>
          </a:solidFill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UAVid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(mIoU, %)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" name="Text 215">
            <a:extLst>
              <a:ext uri="{FF2B5EF4-FFF2-40B4-BE49-F238E27FC236}">
                <a16:creationId xmlns:a16="http://schemas.microsoft.com/office/drawing/2014/main" id="{A43F9596-B8FC-32C3-96F1-42FD93D97BE9}"/>
              </a:ext>
            </a:extLst>
          </p:cNvPr>
          <p:cNvSpPr/>
          <p:nvPr/>
        </p:nvSpPr>
        <p:spPr>
          <a:xfrm>
            <a:off x="5397463" y="24183221"/>
            <a:ext cx="2574589" cy="5407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Method        mIoU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7" name="Text 216">
            <a:extLst>
              <a:ext uri="{FF2B5EF4-FFF2-40B4-BE49-F238E27FC236}">
                <a16:creationId xmlns:a16="http://schemas.microsoft.com/office/drawing/2014/main" id="{08BA3EBC-E012-65E8-2D89-240EF78BFC56}"/>
              </a:ext>
            </a:extLst>
          </p:cNvPr>
          <p:cNvSpPr/>
          <p:nvPr/>
        </p:nvSpPr>
        <p:spPr>
          <a:xfrm>
            <a:off x="5340249" y="24832172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AerialFormer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8" name="Text 217">
            <a:extLst>
              <a:ext uri="{FF2B5EF4-FFF2-40B4-BE49-F238E27FC236}">
                <a16:creationId xmlns:a16="http://schemas.microsoft.com/office/drawing/2014/main" id="{0D0439A6-7C6B-6A3C-F1CE-199A97A7378F}"/>
              </a:ext>
            </a:extLst>
          </p:cNvPr>
          <p:cNvSpPr/>
          <p:nvPr/>
        </p:nvSpPr>
        <p:spPr>
          <a:xfrm>
            <a:off x="7171069" y="24832172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54.1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Text 218">
            <a:extLst>
              <a:ext uri="{FF2B5EF4-FFF2-40B4-BE49-F238E27FC236}">
                <a16:creationId xmlns:a16="http://schemas.microsoft.com/office/drawing/2014/main" id="{63912708-D42F-AFCA-E359-ED7FFD1C28AB}"/>
              </a:ext>
            </a:extLst>
          </p:cNvPr>
          <p:cNvSpPr/>
          <p:nvPr/>
        </p:nvSpPr>
        <p:spPr>
          <a:xfrm>
            <a:off x="5340249" y="25409019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SFA-Net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0" name="Text 219">
            <a:extLst>
              <a:ext uri="{FF2B5EF4-FFF2-40B4-BE49-F238E27FC236}">
                <a16:creationId xmlns:a16="http://schemas.microsoft.com/office/drawing/2014/main" id="{6677225F-0671-5C9C-3970-BECAD3AEC491}"/>
              </a:ext>
            </a:extLst>
          </p:cNvPr>
          <p:cNvSpPr/>
          <p:nvPr/>
        </p:nvSpPr>
        <p:spPr>
          <a:xfrm>
            <a:off x="7171069" y="25409019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54.9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" name="Text 220">
            <a:extLst>
              <a:ext uri="{FF2B5EF4-FFF2-40B4-BE49-F238E27FC236}">
                <a16:creationId xmlns:a16="http://schemas.microsoft.com/office/drawing/2014/main" id="{FF72A4CB-2FDE-F6D1-0E70-70B0CCD2E671}"/>
              </a:ext>
            </a:extLst>
          </p:cNvPr>
          <p:cNvSpPr/>
          <p:nvPr/>
        </p:nvSpPr>
        <p:spPr>
          <a:xfrm>
            <a:off x="5340249" y="25985865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D2LS (Ours)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" name="Text 221">
            <a:extLst>
              <a:ext uri="{FF2B5EF4-FFF2-40B4-BE49-F238E27FC236}">
                <a16:creationId xmlns:a16="http://schemas.microsoft.com/office/drawing/2014/main" id="{4FCBEE4D-E06F-8987-FD28-EBCB5DB163FE}"/>
              </a:ext>
            </a:extLst>
          </p:cNvPr>
          <p:cNvSpPr/>
          <p:nvPr/>
        </p:nvSpPr>
        <p:spPr>
          <a:xfrm>
            <a:off x="7171069" y="25985865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70.9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3" name="Shape 222">
            <a:extLst>
              <a:ext uri="{FF2B5EF4-FFF2-40B4-BE49-F238E27FC236}">
                <a16:creationId xmlns:a16="http://schemas.microsoft.com/office/drawing/2014/main" id="{9967BB20-C8FE-9E87-1F27-9F63DA9FBD6E}"/>
              </a:ext>
            </a:extLst>
          </p:cNvPr>
          <p:cNvSpPr/>
          <p:nvPr/>
        </p:nvSpPr>
        <p:spPr>
          <a:xfrm>
            <a:off x="8687217" y="23065583"/>
            <a:ext cx="3146721" cy="3677392"/>
          </a:xfrm>
          <a:prstGeom prst="roundRect">
            <a:avLst>
              <a:gd name="adj" fmla="val 4902"/>
            </a:avLst>
          </a:prstGeom>
          <a:noFill/>
          <a:ln w="12700">
            <a:solidFill>
              <a:srgbClr val="1A90DD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Shape 223">
            <a:extLst>
              <a:ext uri="{FF2B5EF4-FFF2-40B4-BE49-F238E27FC236}">
                <a16:creationId xmlns:a16="http://schemas.microsoft.com/office/drawing/2014/main" id="{F1EF2F56-5095-FD50-B1A7-D066D3316BF6}"/>
              </a:ext>
            </a:extLst>
          </p:cNvPr>
          <p:cNvSpPr/>
          <p:nvPr/>
        </p:nvSpPr>
        <p:spPr>
          <a:xfrm>
            <a:off x="8687217" y="23065583"/>
            <a:ext cx="3146721" cy="901322"/>
          </a:xfrm>
          <a:prstGeom prst="rect">
            <a:avLst/>
          </a:prstGeom>
          <a:solidFill>
            <a:srgbClr val="1A90DD"/>
          </a:solidFill>
          <a:ln w="12700">
            <a:solidFill>
              <a:srgbClr val="087C90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5" name="Text 224">
            <a:extLst>
              <a:ext uri="{FF2B5EF4-FFF2-40B4-BE49-F238E27FC236}">
                <a16:creationId xmlns:a16="http://schemas.microsoft.com/office/drawing/2014/main" id="{B3A743E7-7481-FF76-BBE7-9C46C1446D67}"/>
              </a:ext>
            </a:extLst>
          </p:cNvPr>
          <p:cNvSpPr/>
          <p:nvPr/>
        </p:nvSpPr>
        <p:spPr>
          <a:xfrm>
            <a:off x="8773036" y="23173742"/>
            <a:ext cx="2975082" cy="721057"/>
          </a:xfrm>
          <a:prstGeom prst="rect">
            <a:avLst/>
          </a:prstGeom>
          <a:solidFill>
            <a:srgbClr val="1A90DD"/>
          </a:solidFill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Potsdam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(mF1, %)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Text 225">
            <a:extLst>
              <a:ext uri="{FF2B5EF4-FFF2-40B4-BE49-F238E27FC236}">
                <a16:creationId xmlns:a16="http://schemas.microsoft.com/office/drawing/2014/main" id="{559608E2-AC0A-F160-7B73-1587A8179568}"/>
              </a:ext>
            </a:extLst>
          </p:cNvPr>
          <p:cNvSpPr/>
          <p:nvPr/>
        </p:nvSpPr>
        <p:spPr>
          <a:xfrm>
            <a:off x="8973282" y="24183221"/>
            <a:ext cx="2574589" cy="5407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Method        mF1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Text 226">
            <a:extLst>
              <a:ext uri="{FF2B5EF4-FFF2-40B4-BE49-F238E27FC236}">
                <a16:creationId xmlns:a16="http://schemas.microsoft.com/office/drawing/2014/main" id="{474A584B-29DF-42B0-1ADD-B8977FB92578}"/>
              </a:ext>
            </a:extLst>
          </p:cNvPr>
          <p:cNvSpPr/>
          <p:nvPr/>
        </p:nvSpPr>
        <p:spPr>
          <a:xfrm>
            <a:off x="8916069" y="24832172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AerialFormer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8" name="Text 227">
            <a:extLst>
              <a:ext uri="{FF2B5EF4-FFF2-40B4-BE49-F238E27FC236}">
                <a16:creationId xmlns:a16="http://schemas.microsoft.com/office/drawing/2014/main" id="{9273C995-2A8E-4F37-A84C-6C44FD53E337}"/>
              </a:ext>
            </a:extLst>
          </p:cNvPr>
          <p:cNvSpPr/>
          <p:nvPr/>
        </p:nvSpPr>
        <p:spPr>
          <a:xfrm>
            <a:off x="10746888" y="24832172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67.8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Text 228">
            <a:extLst>
              <a:ext uri="{FF2B5EF4-FFF2-40B4-BE49-F238E27FC236}">
                <a16:creationId xmlns:a16="http://schemas.microsoft.com/office/drawing/2014/main" id="{C0BB0F51-AE38-5814-1BDC-3DA8AAE8F57A}"/>
              </a:ext>
            </a:extLst>
          </p:cNvPr>
          <p:cNvSpPr/>
          <p:nvPr/>
        </p:nvSpPr>
        <p:spPr>
          <a:xfrm>
            <a:off x="8916069" y="25409019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SFA-Net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0" name="Text 229">
            <a:extLst>
              <a:ext uri="{FF2B5EF4-FFF2-40B4-BE49-F238E27FC236}">
                <a16:creationId xmlns:a16="http://schemas.microsoft.com/office/drawing/2014/main" id="{8672E7C2-3A1C-EC60-D2E5-BB91D8A54231}"/>
              </a:ext>
            </a:extLst>
          </p:cNvPr>
          <p:cNvSpPr/>
          <p:nvPr/>
        </p:nvSpPr>
        <p:spPr>
          <a:xfrm>
            <a:off x="10746888" y="25409019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70.4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1" name="Text 230">
            <a:extLst>
              <a:ext uri="{FF2B5EF4-FFF2-40B4-BE49-F238E27FC236}">
                <a16:creationId xmlns:a16="http://schemas.microsoft.com/office/drawing/2014/main" id="{A343FBF5-D4F1-E54B-6EC0-41D1D01C1D4D}"/>
              </a:ext>
            </a:extLst>
          </p:cNvPr>
          <p:cNvSpPr/>
          <p:nvPr/>
        </p:nvSpPr>
        <p:spPr>
          <a:xfrm>
            <a:off x="8916069" y="25985865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D2LS (Ours)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Text 231">
            <a:extLst>
              <a:ext uri="{FF2B5EF4-FFF2-40B4-BE49-F238E27FC236}">
                <a16:creationId xmlns:a16="http://schemas.microsoft.com/office/drawing/2014/main" id="{7CA33F47-B2C6-4AD4-C492-D21330C19224}"/>
              </a:ext>
            </a:extLst>
          </p:cNvPr>
          <p:cNvSpPr/>
          <p:nvPr/>
        </p:nvSpPr>
        <p:spPr>
          <a:xfrm>
            <a:off x="10746888" y="25985865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94.7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3" name="Shape 232">
            <a:extLst>
              <a:ext uri="{FF2B5EF4-FFF2-40B4-BE49-F238E27FC236}">
                <a16:creationId xmlns:a16="http://schemas.microsoft.com/office/drawing/2014/main" id="{E2257BFF-7967-10A7-8381-B1A0B5C43DB7}"/>
              </a:ext>
            </a:extLst>
          </p:cNvPr>
          <p:cNvSpPr/>
          <p:nvPr/>
        </p:nvSpPr>
        <p:spPr>
          <a:xfrm>
            <a:off x="12263036" y="23065583"/>
            <a:ext cx="3146721" cy="3677392"/>
          </a:xfrm>
          <a:prstGeom prst="roundRect">
            <a:avLst>
              <a:gd name="adj" fmla="val 4902"/>
            </a:avLst>
          </a:prstGeom>
          <a:noFill/>
          <a:ln w="12700">
            <a:solidFill>
              <a:srgbClr val="1A90DD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Shape 233">
            <a:extLst>
              <a:ext uri="{FF2B5EF4-FFF2-40B4-BE49-F238E27FC236}">
                <a16:creationId xmlns:a16="http://schemas.microsoft.com/office/drawing/2014/main" id="{97DA35D1-0A79-5FDE-129A-77209037C2B4}"/>
              </a:ext>
            </a:extLst>
          </p:cNvPr>
          <p:cNvSpPr/>
          <p:nvPr/>
        </p:nvSpPr>
        <p:spPr>
          <a:xfrm>
            <a:off x="12263036" y="23065583"/>
            <a:ext cx="3146721" cy="901322"/>
          </a:xfrm>
          <a:prstGeom prst="rect">
            <a:avLst/>
          </a:prstGeom>
          <a:solidFill>
            <a:srgbClr val="1A90DD"/>
          </a:solidFill>
          <a:ln w="12700">
            <a:solidFill>
              <a:srgbClr val="087C90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Text 234">
            <a:extLst>
              <a:ext uri="{FF2B5EF4-FFF2-40B4-BE49-F238E27FC236}">
                <a16:creationId xmlns:a16="http://schemas.microsoft.com/office/drawing/2014/main" id="{79251A59-7A50-F9B2-4D73-1DC863AB37B5}"/>
              </a:ext>
            </a:extLst>
          </p:cNvPr>
          <p:cNvSpPr/>
          <p:nvPr/>
        </p:nvSpPr>
        <p:spPr>
          <a:xfrm>
            <a:off x="12348856" y="23173742"/>
            <a:ext cx="2975082" cy="721057"/>
          </a:xfrm>
          <a:prstGeom prst="rect">
            <a:avLst/>
          </a:prstGeom>
          <a:solidFill>
            <a:srgbClr val="1A90DD"/>
          </a:solidFill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Vaihingen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(mF1, %)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Text 235">
            <a:extLst>
              <a:ext uri="{FF2B5EF4-FFF2-40B4-BE49-F238E27FC236}">
                <a16:creationId xmlns:a16="http://schemas.microsoft.com/office/drawing/2014/main" id="{49E42730-1089-7F5E-7D45-BE2618F7B5CE}"/>
              </a:ext>
            </a:extLst>
          </p:cNvPr>
          <p:cNvSpPr/>
          <p:nvPr/>
        </p:nvSpPr>
        <p:spPr>
          <a:xfrm>
            <a:off x="12549101" y="24183221"/>
            <a:ext cx="2574589" cy="5407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Method        mF1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7" name="Text 236">
            <a:extLst>
              <a:ext uri="{FF2B5EF4-FFF2-40B4-BE49-F238E27FC236}">
                <a16:creationId xmlns:a16="http://schemas.microsoft.com/office/drawing/2014/main" id="{3A5E3F6E-4F76-2793-A75B-B99BCB7F58A6}"/>
              </a:ext>
            </a:extLst>
          </p:cNvPr>
          <p:cNvSpPr/>
          <p:nvPr/>
        </p:nvSpPr>
        <p:spPr>
          <a:xfrm>
            <a:off x="12491888" y="24832172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AerialFormer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8" name="Text 237">
            <a:extLst>
              <a:ext uri="{FF2B5EF4-FFF2-40B4-BE49-F238E27FC236}">
                <a16:creationId xmlns:a16="http://schemas.microsoft.com/office/drawing/2014/main" id="{B5299B7D-3A73-4342-0F49-DB15B94B5FA7}"/>
              </a:ext>
            </a:extLst>
          </p:cNvPr>
          <p:cNvSpPr/>
          <p:nvPr/>
        </p:nvSpPr>
        <p:spPr>
          <a:xfrm>
            <a:off x="14322707" y="24832172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67.8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9" name="Text 238">
            <a:extLst>
              <a:ext uri="{FF2B5EF4-FFF2-40B4-BE49-F238E27FC236}">
                <a16:creationId xmlns:a16="http://schemas.microsoft.com/office/drawing/2014/main" id="{0E9A8BC8-E322-2018-0AD7-180FD4F8B1C4}"/>
              </a:ext>
            </a:extLst>
          </p:cNvPr>
          <p:cNvSpPr/>
          <p:nvPr/>
        </p:nvSpPr>
        <p:spPr>
          <a:xfrm>
            <a:off x="12491888" y="25409019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SFA-Net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0" name="Text 239">
            <a:extLst>
              <a:ext uri="{FF2B5EF4-FFF2-40B4-BE49-F238E27FC236}">
                <a16:creationId xmlns:a16="http://schemas.microsoft.com/office/drawing/2014/main" id="{280E5BC8-FD24-0AAB-919B-6DDA3C3BF473}"/>
              </a:ext>
            </a:extLst>
          </p:cNvPr>
          <p:cNvSpPr/>
          <p:nvPr/>
        </p:nvSpPr>
        <p:spPr>
          <a:xfrm>
            <a:off x="14322707" y="25409019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70.4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1" name="Text 240">
            <a:extLst>
              <a:ext uri="{FF2B5EF4-FFF2-40B4-BE49-F238E27FC236}">
                <a16:creationId xmlns:a16="http://schemas.microsoft.com/office/drawing/2014/main" id="{555A0940-2F38-97B2-BE79-2E06B779F582}"/>
              </a:ext>
            </a:extLst>
          </p:cNvPr>
          <p:cNvSpPr/>
          <p:nvPr/>
        </p:nvSpPr>
        <p:spPr>
          <a:xfrm>
            <a:off x="12491888" y="25985865"/>
            <a:ext cx="160196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D2LS (Ours)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Text 241">
            <a:extLst>
              <a:ext uri="{FF2B5EF4-FFF2-40B4-BE49-F238E27FC236}">
                <a16:creationId xmlns:a16="http://schemas.microsoft.com/office/drawing/2014/main" id="{3E682690-7BEA-FCE0-0F8E-15E0E092C39B}"/>
              </a:ext>
            </a:extLst>
          </p:cNvPr>
          <p:cNvSpPr/>
          <p:nvPr/>
        </p:nvSpPr>
        <p:spPr>
          <a:xfrm>
            <a:off x="14322707" y="25985865"/>
            <a:ext cx="686557" cy="4326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91.9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3" name="Text 242">
            <a:extLst>
              <a:ext uri="{FF2B5EF4-FFF2-40B4-BE49-F238E27FC236}">
                <a16:creationId xmlns:a16="http://schemas.microsoft.com/office/drawing/2014/main" id="{AC3D35FA-FEA9-3597-3B47-49F8FBE4E8DD}"/>
              </a:ext>
            </a:extLst>
          </p:cNvPr>
          <p:cNvSpPr/>
          <p:nvPr/>
        </p:nvSpPr>
        <p:spPr>
          <a:xfrm>
            <a:off x="3833954" y="38106677"/>
            <a:ext cx="6695918" cy="48599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955" dirty="0"/>
          </a:p>
        </p:txBody>
      </p:sp>
      <p:pic>
        <p:nvPicPr>
          <p:cNvPr id="297" name="图形 296">
            <a:extLst>
              <a:ext uri="{FF2B5EF4-FFF2-40B4-BE49-F238E27FC236}">
                <a16:creationId xmlns:a16="http://schemas.microsoft.com/office/drawing/2014/main" id="{AAFF66A5-4BC5-6472-EC9B-D9E34ED13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85348" y="35763030"/>
            <a:ext cx="19526250" cy="4314825"/>
          </a:xfrm>
          <a:prstGeom prst="rect">
            <a:avLst/>
          </a:prstGeom>
        </p:spPr>
      </p:pic>
      <p:pic>
        <p:nvPicPr>
          <p:cNvPr id="304" name="图形 303">
            <a:extLst>
              <a:ext uri="{FF2B5EF4-FFF2-40B4-BE49-F238E27FC236}">
                <a16:creationId xmlns:a16="http://schemas.microsoft.com/office/drawing/2014/main" id="{F6DDC022-BFA7-42D1-5578-A9E03A13C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35578" y="27632100"/>
            <a:ext cx="13874179" cy="6479699"/>
          </a:xfrm>
          <a:prstGeom prst="rect">
            <a:avLst/>
          </a:prstGeom>
        </p:spPr>
      </p:pic>
      <p:sp>
        <p:nvSpPr>
          <p:cNvPr id="305" name="Text 200">
            <a:extLst>
              <a:ext uri="{FF2B5EF4-FFF2-40B4-BE49-F238E27FC236}">
                <a16:creationId xmlns:a16="http://schemas.microsoft.com/office/drawing/2014/main" id="{6ECB8815-F96C-9213-6DF9-C00E01EADE99}"/>
              </a:ext>
            </a:extLst>
          </p:cNvPr>
          <p:cNvSpPr/>
          <p:nvPr/>
        </p:nvSpPr>
        <p:spPr>
          <a:xfrm>
            <a:off x="2141243" y="26742975"/>
            <a:ext cx="12743845" cy="8983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45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Qualitative Results on the LoveDA dataset</a:t>
            </a:r>
            <a:endParaRPr lang="en-US" altLang="zh-CN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6" name="Text 200">
            <a:extLst>
              <a:ext uri="{FF2B5EF4-FFF2-40B4-BE49-F238E27FC236}">
                <a16:creationId xmlns:a16="http://schemas.microsoft.com/office/drawing/2014/main" id="{B68E627F-9C58-C2CA-1625-A52E538F6B5A}"/>
              </a:ext>
            </a:extLst>
          </p:cNvPr>
          <p:cNvSpPr/>
          <p:nvPr/>
        </p:nvSpPr>
        <p:spPr>
          <a:xfrm>
            <a:off x="2141243" y="22066188"/>
            <a:ext cx="12743845" cy="8983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45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Quantitative Results</a:t>
            </a:r>
            <a:endParaRPr lang="en-US" altLang="zh-CN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Text 243">
            <a:extLst>
              <a:ext uri="{FF2B5EF4-FFF2-40B4-BE49-F238E27FC236}">
                <a16:creationId xmlns:a16="http://schemas.microsoft.com/office/drawing/2014/main" id="{255BDDB0-A10A-9D7E-6F76-2F7353939420}"/>
              </a:ext>
            </a:extLst>
          </p:cNvPr>
          <p:cNvSpPr/>
          <p:nvPr/>
        </p:nvSpPr>
        <p:spPr>
          <a:xfrm>
            <a:off x="16630054" y="21986350"/>
            <a:ext cx="14571663" cy="1058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500" b="1" dirty="0">
                <a:latin typeface="Arilal"/>
                <a:ea typeface="Arial" panose="020B0604020202020204" pitchFamily="34" charset="-122"/>
                <a:cs typeface="Arial" panose="020B0604020202020204" pitchFamily="34" charset="-120"/>
              </a:rPr>
              <a:t>Explicit Class Modeling</a:t>
            </a:r>
            <a:endParaRPr lang="en-US" sz="4500" dirty="0">
              <a:latin typeface="Arilal"/>
            </a:endParaRPr>
          </a:p>
        </p:txBody>
      </p:sp>
      <p:sp>
        <p:nvSpPr>
          <p:cNvPr id="308" name="Shape 244">
            <a:extLst>
              <a:ext uri="{FF2B5EF4-FFF2-40B4-BE49-F238E27FC236}">
                <a16:creationId xmlns:a16="http://schemas.microsoft.com/office/drawing/2014/main" id="{983FB0A3-5CC0-4329-0145-DEA893801336}"/>
              </a:ext>
            </a:extLst>
          </p:cNvPr>
          <p:cNvSpPr/>
          <p:nvPr/>
        </p:nvSpPr>
        <p:spPr>
          <a:xfrm>
            <a:off x="16737618" y="23173742"/>
            <a:ext cx="14444824" cy="3569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Shape 245">
            <a:extLst>
              <a:ext uri="{FF2B5EF4-FFF2-40B4-BE49-F238E27FC236}">
                <a16:creationId xmlns:a16="http://schemas.microsoft.com/office/drawing/2014/main" id="{2FA13DD2-F78C-A132-6A16-8C44FFC27E71}"/>
              </a:ext>
            </a:extLst>
          </p:cNvPr>
          <p:cNvSpPr/>
          <p:nvPr/>
        </p:nvSpPr>
        <p:spPr>
          <a:xfrm>
            <a:off x="16737618" y="23173742"/>
            <a:ext cx="3755653" cy="1153136"/>
          </a:xfrm>
          <a:prstGeom prst="rect">
            <a:avLst/>
          </a:prstGeom>
          <a:solidFill>
            <a:srgbClr val="1A90DD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Text 246">
            <a:extLst>
              <a:ext uri="{FF2B5EF4-FFF2-40B4-BE49-F238E27FC236}">
                <a16:creationId xmlns:a16="http://schemas.microsoft.com/office/drawing/2014/main" id="{97873E63-7992-5B0E-83C0-E848DEED22E6}"/>
              </a:ext>
            </a:extLst>
          </p:cNvPr>
          <p:cNvSpPr/>
          <p:nvPr/>
        </p:nvSpPr>
        <p:spPr>
          <a:xfrm>
            <a:off x="16737618" y="23228653"/>
            <a:ext cx="3755653" cy="1043314"/>
          </a:xfrm>
          <a:prstGeom prst="rect">
            <a:avLst/>
          </a:prstGeom>
          <a:solidFill>
            <a:srgbClr val="1A90DD"/>
          </a:solidFill>
          <a:ln>
            <a:noFill/>
          </a:ln>
        </p:spPr>
        <p:txBody>
          <a:bodyPr wrap="square" lIns="749" tIns="749" rIns="749" bIns="749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Dictionary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Generator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Shape 247">
            <a:extLst>
              <a:ext uri="{FF2B5EF4-FFF2-40B4-BE49-F238E27FC236}">
                <a16:creationId xmlns:a16="http://schemas.microsoft.com/office/drawing/2014/main" id="{3AEDCBC7-78DA-B1E4-5DF7-55BA4FE1A7D2}"/>
              </a:ext>
            </a:extLst>
          </p:cNvPr>
          <p:cNvSpPr/>
          <p:nvPr/>
        </p:nvSpPr>
        <p:spPr>
          <a:xfrm>
            <a:off x="16737618" y="24326878"/>
            <a:ext cx="3755653" cy="120804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Text 248">
            <a:extLst>
              <a:ext uri="{FF2B5EF4-FFF2-40B4-BE49-F238E27FC236}">
                <a16:creationId xmlns:a16="http://schemas.microsoft.com/office/drawing/2014/main" id="{58CB7415-623E-0871-8F4E-05179841EF8E}"/>
              </a:ext>
            </a:extLst>
          </p:cNvPr>
          <p:cNvSpPr/>
          <p:nvPr/>
        </p:nvSpPr>
        <p:spPr>
          <a:xfrm>
            <a:off x="16737618" y="24381789"/>
            <a:ext cx="3755653" cy="1098225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×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Shape 249">
            <a:extLst>
              <a:ext uri="{FF2B5EF4-FFF2-40B4-BE49-F238E27FC236}">
                <a16:creationId xmlns:a16="http://schemas.microsoft.com/office/drawing/2014/main" id="{2989CD49-0FFA-DA0B-3C64-C510C48BEE39}"/>
              </a:ext>
            </a:extLst>
          </p:cNvPr>
          <p:cNvSpPr/>
          <p:nvPr/>
        </p:nvSpPr>
        <p:spPr>
          <a:xfrm>
            <a:off x="16737618" y="25534927"/>
            <a:ext cx="3755653" cy="120804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4" name="Text 250">
            <a:extLst>
              <a:ext uri="{FF2B5EF4-FFF2-40B4-BE49-F238E27FC236}">
                <a16:creationId xmlns:a16="http://schemas.microsoft.com/office/drawing/2014/main" id="{96AC36CA-4B19-F2FE-3181-9FD119E625BE}"/>
              </a:ext>
            </a:extLst>
          </p:cNvPr>
          <p:cNvSpPr/>
          <p:nvPr/>
        </p:nvSpPr>
        <p:spPr>
          <a:xfrm>
            <a:off x="16737618" y="25589838"/>
            <a:ext cx="3755653" cy="1098225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√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Shape 251">
            <a:extLst>
              <a:ext uri="{FF2B5EF4-FFF2-40B4-BE49-F238E27FC236}">
                <a16:creationId xmlns:a16="http://schemas.microsoft.com/office/drawing/2014/main" id="{F573A7E8-B327-BC14-29E0-9A3EEEBEAAF6}"/>
              </a:ext>
            </a:extLst>
          </p:cNvPr>
          <p:cNvSpPr/>
          <p:nvPr/>
        </p:nvSpPr>
        <p:spPr>
          <a:xfrm>
            <a:off x="20493271" y="23173742"/>
            <a:ext cx="3466759" cy="1153136"/>
          </a:xfrm>
          <a:prstGeom prst="rect">
            <a:avLst/>
          </a:prstGeom>
          <a:solidFill>
            <a:srgbClr val="1A90DD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6" name="Text 252">
            <a:extLst>
              <a:ext uri="{FF2B5EF4-FFF2-40B4-BE49-F238E27FC236}">
                <a16:creationId xmlns:a16="http://schemas.microsoft.com/office/drawing/2014/main" id="{664D3B1E-D87D-10DF-CEB8-A5C1E1B5C307}"/>
              </a:ext>
            </a:extLst>
          </p:cNvPr>
          <p:cNvSpPr/>
          <p:nvPr/>
        </p:nvSpPr>
        <p:spPr>
          <a:xfrm>
            <a:off x="20493271" y="23228653"/>
            <a:ext cx="3466759" cy="1043314"/>
          </a:xfrm>
          <a:prstGeom prst="rect">
            <a:avLst/>
          </a:prstGeom>
          <a:solidFill>
            <a:srgbClr val="1A90DD"/>
          </a:solidFill>
          <a:ln>
            <a:noFill/>
          </a:ln>
        </p:spPr>
        <p:txBody>
          <a:bodyPr wrap="square" lIns="749" tIns="749" rIns="749" bIns="749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LoveDA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" name="Shape 253">
            <a:extLst>
              <a:ext uri="{FF2B5EF4-FFF2-40B4-BE49-F238E27FC236}">
                <a16:creationId xmlns:a16="http://schemas.microsoft.com/office/drawing/2014/main" id="{FCF48BA1-9C92-BA3C-95A3-FF4428D692EA}"/>
              </a:ext>
            </a:extLst>
          </p:cNvPr>
          <p:cNvSpPr/>
          <p:nvPr/>
        </p:nvSpPr>
        <p:spPr>
          <a:xfrm>
            <a:off x="20493271" y="24326878"/>
            <a:ext cx="3466759" cy="120804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8" name="Text 254">
            <a:extLst>
              <a:ext uri="{FF2B5EF4-FFF2-40B4-BE49-F238E27FC236}">
                <a16:creationId xmlns:a16="http://schemas.microsoft.com/office/drawing/2014/main" id="{2E1DF2E9-815A-8CE3-8E9D-E24329FACBA3}"/>
              </a:ext>
            </a:extLst>
          </p:cNvPr>
          <p:cNvSpPr/>
          <p:nvPr/>
        </p:nvSpPr>
        <p:spPr>
          <a:xfrm>
            <a:off x="20493271" y="24381789"/>
            <a:ext cx="3466759" cy="1098225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54.81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Shape 255">
            <a:extLst>
              <a:ext uri="{FF2B5EF4-FFF2-40B4-BE49-F238E27FC236}">
                <a16:creationId xmlns:a16="http://schemas.microsoft.com/office/drawing/2014/main" id="{BF1E5699-15C8-0767-47A9-1E31B931ED3C}"/>
              </a:ext>
            </a:extLst>
          </p:cNvPr>
          <p:cNvSpPr/>
          <p:nvPr/>
        </p:nvSpPr>
        <p:spPr>
          <a:xfrm>
            <a:off x="20493271" y="25534927"/>
            <a:ext cx="3466759" cy="120804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0" name="Text 256">
            <a:extLst>
              <a:ext uri="{FF2B5EF4-FFF2-40B4-BE49-F238E27FC236}">
                <a16:creationId xmlns:a16="http://schemas.microsoft.com/office/drawing/2014/main" id="{64C88BFA-B41F-0E8B-4B4D-E1117DF0C07F}"/>
              </a:ext>
            </a:extLst>
          </p:cNvPr>
          <p:cNvSpPr/>
          <p:nvPr/>
        </p:nvSpPr>
        <p:spPr>
          <a:xfrm>
            <a:off x="20493271" y="25589838"/>
            <a:ext cx="3466759" cy="1098225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55.27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1" name="Shape 257">
            <a:extLst>
              <a:ext uri="{FF2B5EF4-FFF2-40B4-BE49-F238E27FC236}">
                <a16:creationId xmlns:a16="http://schemas.microsoft.com/office/drawing/2014/main" id="{9008ED49-23FF-601B-7924-35C66A731AB4}"/>
              </a:ext>
            </a:extLst>
          </p:cNvPr>
          <p:cNvSpPr/>
          <p:nvPr/>
        </p:nvSpPr>
        <p:spPr>
          <a:xfrm>
            <a:off x="23960030" y="23173742"/>
            <a:ext cx="3611206" cy="1153136"/>
          </a:xfrm>
          <a:prstGeom prst="rect">
            <a:avLst/>
          </a:prstGeom>
          <a:solidFill>
            <a:srgbClr val="1A90DD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Text 258">
            <a:extLst>
              <a:ext uri="{FF2B5EF4-FFF2-40B4-BE49-F238E27FC236}">
                <a16:creationId xmlns:a16="http://schemas.microsoft.com/office/drawing/2014/main" id="{AE4CF07A-1D0A-14A6-AAF5-8D8B6A454BD9}"/>
              </a:ext>
            </a:extLst>
          </p:cNvPr>
          <p:cNvSpPr/>
          <p:nvPr/>
        </p:nvSpPr>
        <p:spPr>
          <a:xfrm>
            <a:off x="23960030" y="23228653"/>
            <a:ext cx="3611206" cy="1043314"/>
          </a:xfrm>
          <a:prstGeom prst="rect">
            <a:avLst/>
          </a:prstGeom>
          <a:solidFill>
            <a:srgbClr val="1A90DD"/>
          </a:solidFill>
          <a:ln>
            <a:noFill/>
          </a:ln>
        </p:spPr>
        <p:txBody>
          <a:bodyPr wrap="square" lIns="749" tIns="749" rIns="749" bIns="749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Vaihingen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3" name="Shape 259">
            <a:extLst>
              <a:ext uri="{FF2B5EF4-FFF2-40B4-BE49-F238E27FC236}">
                <a16:creationId xmlns:a16="http://schemas.microsoft.com/office/drawing/2014/main" id="{F22D0F52-0D49-D7C0-60CA-D1801AA345F9}"/>
              </a:ext>
            </a:extLst>
          </p:cNvPr>
          <p:cNvSpPr/>
          <p:nvPr/>
        </p:nvSpPr>
        <p:spPr>
          <a:xfrm>
            <a:off x="23960030" y="24326878"/>
            <a:ext cx="3611206" cy="120804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Text 260">
            <a:extLst>
              <a:ext uri="{FF2B5EF4-FFF2-40B4-BE49-F238E27FC236}">
                <a16:creationId xmlns:a16="http://schemas.microsoft.com/office/drawing/2014/main" id="{BCC515AF-B396-43D5-1C28-ED003D96ECF9}"/>
              </a:ext>
            </a:extLst>
          </p:cNvPr>
          <p:cNvSpPr/>
          <p:nvPr/>
        </p:nvSpPr>
        <p:spPr>
          <a:xfrm>
            <a:off x="23960030" y="24381789"/>
            <a:ext cx="3611206" cy="1098225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84.40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Shape 261">
            <a:extLst>
              <a:ext uri="{FF2B5EF4-FFF2-40B4-BE49-F238E27FC236}">
                <a16:creationId xmlns:a16="http://schemas.microsoft.com/office/drawing/2014/main" id="{B9197D71-2943-8B11-E057-1ED120675628}"/>
              </a:ext>
            </a:extLst>
          </p:cNvPr>
          <p:cNvSpPr/>
          <p:nvPr/>
        </p:nvSpPr>
        <p:spPr>
          <a:xfrm>
            <a:off x="23960030" y="25534927"/>
            <a:ext cx="3611206" cy="120804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" name="Text 262">
            <a:extLst>
              <a:ext uri="{FF2B5EF4-FFF2-40B4-BE49-F238E27FC236}">
                <a16:creationId xmlns:a16="http://schemas.microsoft.com/office/drawing/2014/main" id="{395F9B38-AEDE-220B-C731-0198B257B2A3}"/>
              </a:ext>
            </a:extLst>
          </p:cNvPr>
          <p:cNvSpPr/>
          <p:nvPr/>
        </p:nvSpPr>
        <p:spPr>
          <a:xfrm>
            <a:off x="23960030" y="25589838"/>
            <a:ext cx="3611206" cy="1098225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85.27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Shape 263">
            <a:extLst>
              <a:ext uri="{FF2B5EF4-FFF2-40B4-BE49-F238E27FC236}">
                <a16:creationId xmlns:a16="http://schemas.microsoft.com/office/drawing/2014/main" id="{87F06AD7-791C-7563-D723-1DA03F01AF1B}"/>
              </a:ext>
            </a:extLst>
          </p:cNvPr>
          <p:cNvSpPr/>
          <p:nvPr/>
        </p:nvSpPr>
        <p:spPr>
          <a:xfrm>
            <a:off x="27571236" y="23173742"/>
            <a:ext cx="3611206" cy="1153136"/>
          </a:xfrm>
          <a:prstGeom prst="rect">
            <a:avLst/>
          </a:prstGeom>
          <a:solidFill>
            <a:srgbClr val="1A90DD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Text 264">
            <a:extLst>
              <a:ext uri="{FF2B5EF4-FFF2-40B4-BE49-F238E27FC236}">
                <a16:creationId xmlns:a16="http://schemas.microsoft.com/office/drawing/2014/main" id="{00BCCA9E-FB50-BB48-B49F-446F25E33A2A}"/>
              </a:ext>
            </a:extLst>
          </p:cNvPr>
          <p:cNvSpPr/>
          <p:nvPr/>
        </p:nvSpPr>
        <p:spPr>
          <a:xfrm>
            <a:off x="27571236" y="23228653"/>
            <a:ext cx="3611206" cy="1043314"/>
          </a:xfrm>
          <a:prstGeom prst="rect">
            <a:avLst/>
          </a:prstGeom>
          <a:solidFill>
            <a:srgbClr val="1A90DD"/>
          </a:solidFill>
          <a:ln>
            <a:noFill/>
          </a:ln>
        </p:spPr>
        <p:txBody>
          <a:bodyPr wrap="square" lIns="749" tIns="749" rIns="749" bIns="749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Grass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Shape 265">
            <a:extLst>
              <a:ext uri="{FF2B5EF4-FFF2-40B4-BE49-F238E27FC236}">
                <a16:creationId xmlns:a16="http://schemas.microsoft.com/office/drawing/2014/main" id="{E32A3D42-D055-0B49-7A40-578AB0FB8FC8}"/>
              </a:ext>
            </a:extLst>
          </p:cNvPr>
          <p:cNvSpPr/>
          <p:nvPr/>
        </p:nvSpPr>
        <p:spPr>
          <a:xfrm>
            <a:off x="27571236" y="24326878"/>
            <a:ext cx="3611206" cy="120804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Text 266">
            <a:extLst>
              <a:ext uri="{FF2B5EF4-FFF2-40B4-BE49-F238E27FC236}">
                <a16:creationId xmlns:a16="http://schemas.microsoft.com/office/drawing/2014/main" id="{3A047162-B5EF-0EAD-61A7-58D34F3DC640}"/>
              </a:ext>
            </a:extLst>
          </p:cNvPr>
          <p:cNvSpPr/>
          <p:nvPr/>
        </p:nvSpPr>
        <p:spPr>
          <a:xfrm>
            <a:off x="27571236" y="24381789"/>
            <a:ext cx="3611206" cy="1098225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50.70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Shape 267">
            <a:extLst>
              <a:ext uri="{FF2B5EF4-FFF2-40B4-BE49-F238E27FC236}">
                <a16:creationId xmlns:a16="http://schemas.microsoft.com/office/drawing/2014/main" id="{1103EC1F-78CB-0DB8-DEFA-2CDF3E0C69D1}"/>
              </a:ext>
            </a:extLst>
          </p:cNvPr>
          <p:cNvSpPr/>
          <p:nvPr/>
        </p:nvSpPr>
        <p:spPr>
          <a:xfrm>
            <a:off x="27571236" y="25534927"/>
            <a:ext cx="3611206" cy="120804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Text 268">
            <a:extLst>
              <a:ext uri="{FF2B5EF4-FFF2-40B4-BE49-F238E27FC236}">
                <a16:creationId xmlns:a16="http://schemas.microsoft.com/office/drawing/2014/main" id="{5A5712FC-C902-E4C6-017E-E742052139BE}"/>
              </a:ext>
            </a:extLst>
          </p:cNvPr>
          <p:cNvSpPr/>
          <p:nvPr/>
        </p:nvSpPr>
        <p:spPr>
          <a:xfrm>
            <a:off x="27571236" y="25589838"/>
            <a:ext cx="3611206" cy="1098225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51.96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Text 269">
            <a:extLst>
              <a:ext uri="{FF2B5EF4-FFF2-40B4-BE49-F238E27FC236}">
                <a16:creationId xmlns:a16="http://schemas.microsoft.com/office/drawing/2014/main" id="{04EEA853-BF43-81A9-8E58-BF377FDE08CA}"/>
              </a:ext>
            </a:extLst>
          </p:cNvPr>
          <p:cNvSpPr/>
          <p:nvPr/>
        </p:nvSpPr>
        <p:spPr>
          <a:xfrm>
            <a:off x="16826348" y="26737839"/>
            <a:ext cx="14520601" cy="8942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500" b="1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Static Dictionary vs. Dynamic Dictionary</a:t>
            </a:r>
            <a:endParaRPr lang="en-US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" name="Shape 270">
            <a:extLst>
              <a:ext uri="{FF2B5EF4-FFF2-40B4-BE49-F238E27FC236}">
                <a16:creationId xmlns:a16="http://schemas.microsoft.com/office/drawing/2014/main" id="{34DBA83A-8824-BD6A-D198-73BF5D72FE02}"/>
              </a:ext>
            </a:extLst>
          </p:cNvPr>
          <p:cNvSpPr/>
          <p:nvPr/>
        </p:nvSpPr>
        <p:spPr>
          <a:xfrm>
            <a:off x="16748931" y="27785454"/>
            <a:ext cx="14444824" cy="63815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Shape 271">
            <a:extLst>
              <a:ext uri="{FF2B5EF4-FFF2-40B4-BE49-F238E27FC236}">
                <a16:creationId xmlns:a16="http://schemas.microsoft.com/office/drawing/2014/main" id="{A5D35ADD-7F83-18BB-D8E9-F4CEC012C193}"/>
              </a:ext>
            </a:extLst>
          </p:cNvPr>
          <p:cNvSpPr/>
          <p:nvPr/>
        </p:nvSpPr>
        <p:spPr>
          <a:xfrm>
            <a:off x="16748931" y="27785454"/>
            <a:ext cx="3900103" cy="1351378"/>
          </a:xfrm>
          <a:prstGeom prst="rect">
            <a:avLst/>
          </a:prstGeom>
          <a:solidFill>
            <a:srgbClr val="1A90DD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6" name="Text 272">
            <a:extLst>
              <a:ext uri="{FF2B5EF4-FFF2-40B4-BE49-F238E27FC236}">
                <a16:creationId xmlns:a16="http://schemas.microsoft.com/office/drawing/2014/main" id="{6C650046-9DE5-E26D-8ABB-1597A6459E46}"/>
              </a:ext>
            </a:extLst>
          </p:cNvPr>
          <p:cNvSpPr/>
          <p:nvPr/>
        </p:nvSpPr>
        <p:spPr>
          <a:xfrm>
            <a:off x="16748931" y="27860530"/>
            <a:ext cx="3900103" cy="1201224"/>
          </a:xfrm>
          <a:prstGeom prst="rect">
            <a:avLst/>
          </a:prstGeom>
          <a:solidFill>
            <a:srgbClr val="1A90DD"/>
          </a:solidFill>
          <a:ln>
            <a:noFill/>
          </a:ln>
        </p:spPr>
        <p:txBody>
          <a:bodyPr wrap="square" lIns="749" tIns="749" rIns="749" bIns="749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Loss Function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" name="Shape 273">
            <a:extLst>
              <a:ext uri="{FF2B5EF4-FFF2-40B4-BE49-F238E27FC236}">
                <a16:creationId xmlns:a16="http://schemas.microsoft.com/office/drawing/2014/main" id="{2A80D522-0AF9-DD76-8732-64698F4764B0}"/>
              </a:ext>
            </a:extLst>
          </p:cNvPr>
          <p:cNvSpPr/>
          <p:nvPr/>
        </p:nvSpPr>
        <p:spPr>
          <a:xfrm>
            <a:off x="16748931" y="29136832"/>
            <a:ext cx="3900103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 274">
                <a:extLst>
                  <a:ext uri="{FF2B5EF4-FFF2-40B4-BE49-F238E27FC236}">
                    <a16:creationId xmlns:a16="http://schemas.microsoft.com/office/drawing/2014/main" id="{1F924EF2-1E61-973E-97DE-A4D6349CDD51}"/>
                  </a:ext>
                </a:extLst>
              </p:cNvPr>
              <p:cNvSpPr/>
              <p:nvPr/>
            </p:nvSpPr>
            <p:spPr>
              <a:xfrm>
                <a:off x="16748931" y="29211908"/>
                <a:ext cx="3900103" cy="11073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74" tIns="374" rIns="374" bIns="374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static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8" name="Text 274">
                <a:extLst>
                  <a:ext uri="{FF2B5EF4-FFF2-40B4-BE49-F238E27FC236}">
                    <a16:creationId xmlns:a16="http://schemas.microsoft.com/office/drawing/2014/main" id="{1F924EF2-1E61-973E-97DE-A4D6349CD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8931" y="29211908"/>
                <a:ext cx="3900103" cy="110737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Shape 275">
            <a:extLst>
              <a:ext uri="{FF2B5EF4-FFF2-40B4-BE49-F238E27FC236}">
                <a16:creationId xmlns:a16="http://schemas.microsoft.com/office/drawing/2014/main" id="{2495D0E8-BD00-A423-8192-1FAFE67E6EAF}"/>
              </a:ext>
            </a:extLst>
          </p:cNvPr>
          <p:cNvSpPr/>
          <p:nvPr/>
        </p:nvSpPr>
        <p:spPr>
          <a:xfrm>
            <a:off x="16748931" y="30394365"/>
            <a:ext cx="3900103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Text 276">
                <a:extLst>
                  <a:ext uri="{FF2B5EF4-FFF2-40B4-BE49-F238E27FC236}">
                    <a16:creationId xmlns:a16="http://schemas.microsoft.com/office/drawing/2014/main" id="{F08FCCF1-7957-D005-1996-51ABEFA01D8F}"/>
                  </a:ext>
                </a:extLst>
              </p:cNvPr>
              <p:cNvSpPr/>
              <p:nvPr/>
            </p:nvSpPr>
            <p:spPr>
              <a:xfrm>
                <a:off x="16748931" y="30469440"/>
                <a:ext cx="3900103" cy="11073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74" tIns="374" rIns="374" bIns="374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dynamic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0" name="Text 276">
                <a:extLst>
                  <a:ext uri="{FF2B5EF4-FFF2-40B4-BE49-F238E27FC236}">
                    <a16:creationId xmlns:a16="http://schemas.microsoft.com/office/drawing/2014/main" id="{F08FCCF1-7957-D005-1996-51ABEFA01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8931" y="30469440"/>
                <a:ext cx="3900103" cy="110737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1" name="Shape 277">
            <a:extLst>
              <a:ext uri="{FF2B5EF4-FFF2-40B4-BE49-F238E27FC236}">
                <a16:creationId xmlns:a16="http://schemas.microsoft.com/office/drawing/2014/main" id="{C0A49505-CE22-91E3-FE1A-4DAC12F5C67E}"/>
              </a:ext>
            </a:extLst>
          </p:cNvPr>
          <p:cNvSpPr/>
          <p:nvPr/>
        </p:nvSpPr>
        <p:spPr>
          <a:xfrm>
            <a:off x="16748931" y="31651898"/>
            <a:ext cx="3900103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 278">
                <a:extLst>
                  <a:ext uri="{FF2B5EF4-FFF2-40B4-BE49-F238E27FC236}">
                    <a16:creationId xmlns:a16="http://schemas.microsoft.com/office/drawing/2014/main" id="{18D1B105-E271-5273-9839-6B4AF4AF29D8}"/>
                  </a:ext>
                </a:extLst>
              </p:cNvPr>
              <p:cNvSpPr/>
              <p:nvPr/>
            </p:nvSpPr>
            <p:spPr>
              <a:xfrm>
                <a:off x="16748931" y="31726974"/>
                <a:ext cx="3900103" cy="11073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74" tIns="374" rIns="374" bIns="374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static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dynamic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2" name="Text 278">
                <a:extLst>
                  <a:ext uri="{FF2B5EF4-FFF2-40B4-BE49-F238E27FC236}">
                    <a16:creationId xmlns:a16="http://schemas.microsoft.com/office/drawing/2014/main" id="{18D1B105-E271-5273-9839-6B4AF4AF2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8931" y="31726974"/>
                <a:ext cx="3900103" cy="110737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3" name="Shape 279">
            <a:extLst>
              <a:ext uri="{FF2B5EF4-FFF2-40B4-BE49-F238E27FC236}">
                <a16:creationId xmlns:a16="http://schemas.microsoft.com/office/drawing/2014/main" id="{16DD2FDB-ACC2-4B45-A594-4C6217C72011}"/>
              </a:ext>
            </a:extLst>
          </p:cNvPr>
          <p:cNvSpPr/>
          <p:nvPr/>
        </p:nvSpPr>
        <p:spPr>
          <a:xfrm>
            <a:off x="16748931" y="32909430"/>
            <a:ext cx="3900103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 280">
                <a:extLst>
                  <a:ext uri="{FF2B5EF4-FFF2-40B4-BE49-F238E27FC236}">
                    <a16:creationId xmlns:a16="http://schemas.microsoft.com/office/drawing/2014/main" id="{8DEE6503-E934-9FBE-8712-D9963FEA1389}"/>
                  </a:ext>
                </a:extLst>
              </p:cNvPr>
              <p:cNvSpPr/>
              <p:nvPr/>
            </p:nvSpPr>
            <p:spPr>
              <a:xfrm>
                <a:off x="16748931" y="32984507"/>
                <a:ext cx="3900103" cy="11073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74" tIns="374" rIns="374" bIns="374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4" name="Text 280">
                <a:extLst>
                  <a:ext uri="{FF2B5EF4-FFF2-40B4-BE49-F238E27FC236}">
                    <a16:creationId xmlns:a16="http://schemas.microsoft.com/office/drawing/2014/main" id="{8DEE6503-E934-9FBE-8712-D9963FEA13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8931" y="32984507"/>
                <a:ext cx="3900103" cy="110737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5" name="Shape 281">
            <a:extLst>
              <a:ext uri="{FF2B5EF4-FFF2-40B4-BE49-F238E27FC236}">
                <a16:creationId xmlns:a16="http://schemas.microsoft.com/office/drawing/2014/main" id="{1CF1B2F5-1F1D-E669-21A6-16A51843BB2E}"/>
              </a:ext>
            </a:extLst>
          </p:cNvPr>
          <p:cNvSpPr/>
          <p:nvPr/>
        </p:nvSpPr>
        <p:spPr>
          <a:xfrm>
            <a:off x="20649034" y="27785454"/>
            <a:ext cx="3322309" cy="1351378"/>
          </a:xfrm>
          <a:prstGeom prst="rect">
            <a:avLst/>
          </a:prstGeom>
          <a:solidFill>
            <a:srgbClr val="1A90DD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6" name="Text 282">
            <a:extLst>
              <a:ext uri="{FF2B5EF4-FFF2-40B4-BE49-F238E27FC236}">
                <a16:creationId xmlns:a16="http://schemas.microsoft.com/office/drawing/2014/main" id="{49496992-257E-C2C8-4627-788165D7BF5B}"/>
              </a:ext>
            </a:extLst>
          </p:cNvPr>
          <p:cNvSpPr/>
          <p:nvPr/>
        </p:nvSpPr>
        <p:spPr>
          <a:xfrm>
            <a:off x="20649034" y="27860530"/>
            <a:ext cx="3322309" cy="1201224"/>
          </a:xfrm>
          <a:prstGeom prst="rect">
            <a:avLst/>
          </a:prstGeom>
          <a:solidFill>
            <a:srgbClr val="1A90DD"/>
          </a:solidFill>
          <a:ln>
            <a:noFill/>
          </a:ln>
        </p:spPr>
        <p:txBody>
          <a:bodyPr wrap="square" lIns="749" tIns="749" rIns="749" bIns="749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LoveDA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7" name="Shape 283">
            <a:extLst>
              <a:ext uri="{FF2B5EF4-FFF2-40B4-BE49-F238E27FC236}">
                <a16:creationId xmlns:a16="http://schemas.microsoft.com/office/drawing/2014/main" id="{D8AA20B0-F449-57A8-3673-7083312D20BB}"/>
              </a:ext>
            </a:extLst>
          </p:cNvPr>
          <p:cNvSpPr/>
          <p:nvPr/>
        </p:nvSpPr>
        <p:spPr>
          <a:xfrm>
            <a:off x="20649034" y="29136832"/>
            <a:ext cx="3322309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" name="Text 284">
            <a:extLst>
              <a:ext uri="{FF2B5EF4-FFF2-40B4-BE49-F238E27FC236}">
                <a16:creationId xmlns:a16="http://schemas.microsoft.com/office/drawing/2014/main" id="{08EB1FDF-225C-D388-2962-D9AC1233AA24}"/>
              </a:ext>
            </a:extLst>
          </p:cNvPr>
          <p:cNvSpPr/>
          <p:nvPr/>
        </p:nvSpPr>
        <p:spPr>
          <a:xfrm>
            <a:off x="20649034" y="29211908"/>
            <a:ext cx="3322309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54.80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9" name="Shape 285">
            <a:extLst>
              <a:ext uri="{FF2B5EF4-FFF2-40B4-BE49-F238E27FC236}">
                <a16:creationId xmlns:a16="http://schemas.microsoft.com/office/drawing/2014/main" id="{9D9CEE7C-2115-DA59-EB9B-BA2CA0D1BB6A}"/>
              </a:ext>
            </a:extLst>
          </p:cNvPr>
          <p:cNvSpPr/>
          <p:nvPr/>
        </p:nvSpPr>
        <p:spPr>
          <a:xfrm>
            <a:off x="20649034" y="30394365"/>
            <a:ext cx="3322309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" name="Text 286">
            <a:extLst>
              <a:ext uri="{FF2B5EF4-FFF2-40B4-BE49-F238E27FC236}">
                <a16:creationId xmlns:a16="http://schemas.microsoft.com/office/drawing/2014/main" id="{91C016DB-B088-A241-6D71-64BA04AD16FA}"/>
              </a:ext>
            </a:extLst>
          </p:cNvPr>
          <p:cNvSpPr/>
          <p:nvPr/>
        </p:nvSpPr>
        <p:spPr>
          <a:xfrm>
            <a:off x="20649034" y="30469440"/>
            <a:ext cx="3322309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54.93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" name="Shape 287">
            <a:extLst>
              <a:ext uri="{FF2B5EF4-FFF2-40B4-BE49-F238E27FC236}">
                <a16:creationId xmlns:a16="http://schemas.microsoft.com/office/drawing/2014/main" id="{A64A814D-C2A4-09FE-9821-8C478D9C27DC}"/>
              </a:ext>
            </a:extLst>
          </p:cNvPr>
          <p:cNvSpPr/>
          <p:nvPr/>
        </p:nvSpPr>
        <p:spPr>
          <a:xfrm>
            <a:off x="20649034" y="31651898"/>
            <a:ext cx="3322309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Text 288">
            <a:extLst>
              <a:ext uri="{FF2B5EF4-FFF2-40B4-BE49-F238E27FC236}">
                <a16:creationId xmlns:a16="http://schemas.microsoft.com/office/drawing/2014/main" id="{8E992CB1-7CFB-5153-F8B2-80A34D7C3C4B}"/>
              </a:ext>
            </a:extLst>
          </p:cNvPr>
          <p:cNvSpPr/>
          <p:nvPr/>
        </p:nvSpPr>
        <p:spPr>
          <a:xfrm>
            <a:off x="20649034" y="31726974"/>
            <a:ext cx="3322309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54.95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3" name="Shape 289">
            <a:extLst>
              <a:ext uri="{FF2B5EF4-FFF2-40B4-BE49-F238E27FC236}">
                <a16:creationId xmlns:a16="http://schemas.microsoft.com/office/drawing/2014/main" id="{9CA2ABB1-2B33-E6F2-AC26-E1FCDE36733C}"/>
              </a:ext>
            </a:extLst>
          </p:cNvPr>
          <p:cNvSpPr/>
          <p:nvPr/>
        </p:nvSpPr>
        <p:spPr>
          <a:xfrm>
            <a:off x="20649034" y="32909430"/>
            <a:ext cx="3322309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4" name="Text 290">
            <a:extLst>
              <a:ext uri="{FF2B5EF4-FFF2-40B4-BE49-F238E27FC236}">
                <a16:creationId xmlns:a16="http://schemas.microsoft.com/office/drawing/2014/main" id="{C22A8CA6-82E6-EFBF-64C1-5DF72D44FF3C}"/>
              </a:ext>
            </a:extLst>
          </p:cNvPr>
          <p:cNvSpPr/>
          <p:nvPr/>
        </p:nvSpPr>
        <p:spPr>
          <a:xfrm>
            <a:off x="20649034" y="32984507"/>
            <a:ext cx="3322309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55.27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5" name="Shape 291">
            <a:extLst>
              <a:ext uri="{FF2B5EF4-FFF2-40B4-BE49-F238E27FC236}">
                <a16:creationId xmlns:a16="http://schemas.microsoft.com/office/drawing/2014/main" id="{BEF50DC6-158B-F7CE-64C2-B4FC7001A8DB}"/>
              </a:ext>
            </a:extLst>
          </p:cNvPr>
          <p:cNvSpPr/>
          <p:nvPr/>
        </p:nvSpPr>
        <p:spPr>
          <a:xfrm>
            <a:off x="23971343" y="27785454"/>
            <a:ext cx="3611206" cy="1351378"/>
          </a:xfrm>
          <a:prstGeom prst="rect">
            <a:avLst/>
          </a:prstGeom>
          <a:solidFill>
            <a:srgbClr val="1A90DD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Text 292">
            <a:extLst>
              <a:ext uri="{FF2B5EF4-FFF2-40B4-BE49-F238E27FC236}">
                <a16:creationId xmlns:a16="http://schemas.microsoft.com/office/drawing/2014/main" id="{CA0FF901-48CE-66CA-1A78-83E6469D9AAC}"/>
              </a:ext>
            </a:extLst>
          </p:cNvPr>
          <p:cNvSpPr/>
          <p:nvPr/>
        </p:nvSpPr>
        <p:spPr>
          <a:xfrm>
            <a:off x="23971343" y="27860530"/>
            <a:ext cx="3611206" cy="1201224"/>
          </a:xfrm>
          <a:prstGeom prst="rect">
            <a:avLst/>
          </a:prstGeom>
          <a:solidFill>
            <a:srgbClr val="1A90DD"/>
          </a:solidFill>
          <a:ln>
            <a:noFill/>
          </a:ln>
        </p:spPr>
        <p:txBody>
          <a:bodyPr wrap="square" lIns="749" tIns="749" rIns="749" bIns="749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Vaihingen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Shape 293">
            <a:extLst>
              <a:ext uri="{FF2B5EF4-FFF2-40B4-BE49-F238E27FC236}">
                <a16:creationId xmlns:a16="http://schemas.microsoft.com/office/drawing/2014/main" id="{D70B610D-5068-2018-EE02-C9BFA9AD1734}"/>
              </a:ext>
            </a:extLst>
          </p:cNvPr>
          <p:cNvSpPr/>
          <p:nvPr/>
        </p:nvSpPr>
        <p:spPr>
          <a:xfrm>
            <a:off x="23971343" y="29136832"/>
            <a:ext cx="3611206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" name="Text 294">
            <a:extLst>
              <a:ext uri="{FF2B5EF4-FFF2-40B4-BE49-F238E27FC236}">
                <a16:creationId xmlns:a16="http://schemas.microsoft.com/office/drawing/2014/main" id="{56BB3780-7494-FCEB-2A01-CA769668CECC}"/>
              </a:ext>
            </a:extLst>
          </p:cNvPr>
          <p:cNvSpPr/>
          <p:nvPr/>
        </p:nvSpPr>
        <p:spPr>
          <a:xfrm>
            <a:off x="23971343" y="29211908"/>
            <a:ext cx="3611206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85.10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9" name="Shape 295">
            <a:extLst>
              <a:ext uri="{FF2B5EF4-FFF2-40B4-BE49-F238E27FC236}">
                <a16:creationId xmlns:a16="http://schemas.microsoft.com/office/drawing/2014/main" id="{5FA81294-DCA6-7CE2-D312-B8BD0B32C336}"/>
              </a:ext>
            </a:extLst>
          </p:cNvPr>
          <p:cNvSpPr/>
          <p:nvPr/>
        </p:nvSpPr>
        <p:spPr>
          <a:xfrm>
            <a:off x="23971343" y="30394365"/>
            <a:ext cx="3611206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0" name="Text 296">
            <a:extLst>
              <a:ext uri="{FF2B5EF4-FFF2-40B4-BE49-F238E27FC236}">
                <a16:creationId xmlns:a16="http://schemas.microsoft.com/office/drawing/2014/main" id="{980CFDEF-5832-982B-EDE4-C97D74F1F943}"/>
              </a:ext>
            </a:extLst>
          </p:cNvPr>
          <p:cNvSpPr/>
          <p:nvPr/>
        </p:nvSpPr>
        <p:spPr>
          <a:xfrm>
            <a:off x="23971343" y="30469440"/>
            <a:ext cx="3611206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85.17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1" name="Shape 297">
            <a:extLst>
              <a:ext uri="{FF2B5EF4-FFF2-40B4-BE49-F238E27FC236}">
                <a16:creationId xmlns:a16="http://schemas.microsoft.com/office/drawing/2014/main" id="{BB8F3968-2F50-5F12-496C-E5C29042819D}"/>
              </a:ext>
            </a:extLst>
          </p:cNvPr>
          <p:cNvSpPr/>
          <p:nvPr/>
        </p:nvSpPr>
        <p:spPr>
          <a:xfrm>
            <a:off x="23971343" y="31651898"/>
            <a:ext cx="3611206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Text 298">
            <a:extLst>
              <a:ext uri="{FF2B5EF4-FFF2-40B4-BE49-F238E27FC236}">
                <a16:creationId xmlns:a16="http://schemas.microsoft.com/office/drawing/2014/main" id="{D82BC8B1-13E8-4DD3-74A1-03055218E461}"/>
              </a:ext>
            </a:extLst>
          </p:cNvPr>
          <p:cNvSpPr/>
          <p:nvPr/>
        </p:nvSpPr>
        <p:spPr>
          <a:xfrm>
            <a:off x="23971343" y="31726974"/>
            <a:ext cx="3611206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85.17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3" name="Shape 299">
            <a:extLst>
              <a:ext uri="{FF2B5EF4-FFF2-40B4-BE49-F238E27FC236}">
                <a16:creationId xmlns:a16="http://schemas.microsoft.com/office/drawing/2014/main" id="{28261713-AB79-4E7D-E267-9F381AAEF377}"/>
              </a:ext>
            </a:extLst>
          </p:cNvPr>
          <p:cNvSpPr/>
          <p:nvPr/>
        </p:nvSpPr>
        <p:spPr>
          <a:xfrm>
            <a:off x="23971343" y="32909430"/>
            <a:ext cx="3611206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4" name="Text 300">
            <a:extLst>
              <a:ext uri="{FF2B5EF4-FFF2-40B4-BE49-F238E27FC236}">
                <a16:creationId xmlns:a16="http://schemas.microsoft.com/office/drawing/2014/main" id="{161D83AB-CA30-185C-512F-383024AC0186}"/>
              </a:ext>
            </a:extLst>
          </p:cNvPr>
          <p:cNvSpPr/>
          <p:nvPr/>
        </p:nvSpPr>
        <p:spPr>
          <a:xfrm>
            <a:off x="23971343" y="32984507"/>
            <a:ext cx="3611206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85.27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5" name="Shape 301">
            <a:extLst>
              <a:ext uri="{FF2B5EF4-FFF2-40B4-BE49-F238E27FC236}">
                <a16:creationId xmlns:a16="http://schemas.microsoft.com/office/drawing/2014/main" id="{34515C4F-23A0-944B-9DE8-DA1201CB426F}"/>
              </a:ext>
            </a:extLst>
          </p:cNvPr>
          <p:cNvSpPr/>
          <p:nvPr/>
        </p:nvSpPr>
        <p:spPr>
          <a:xfrm>
            <a:off x="27582548" y="27785454"/>
            <a:ext cx="3611206" cy="1351378"/>
          </a:xfrm>
          <a:prstGeom prst="rect">
            <a:avLst/>
          </a:prstGeom>
          <a:solidFill>
            <a:srgbClr val="1A90DD"/>
          </a:solidFill>
          <a:ln w="7620">
            <a:noFill/>
            <a:prstDash val="solid"/>
          </a:ln>
        </p:spPr>
        <p:txBody>
          <a:bodyPr/>
          <a:lstStyle/>
          <a:p>
            <a:endParaRPr lang="zh-CN" alt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6" name="Text 302">
            <a:extLst>
              <a:ext uri="{FF2B5EF4-FFF2-40B4-BE49-F238E27FC236}">
                <a16:creationId xmlns:a16="http://schemas.microsoft.com/office/drawing/2014/main" id="{B89C5B8C-E9E2-E792-AB66-85575D5C3E69}"/>
              </a:ext>
            </a:extLst>
          </p:cNvPr>
          <p:cNvSpPr/>
          <p:nvPr/>
        </p:nvSpPr>
        <p:spPr>
          <a:xfrm>
            <a:off x="27582548" y="27860530"/>
            <a:ext cx="3611206" cy="1201224"/>
          </a:xfrm>
          <a:prstGeom prst="rect">
            <a:avLst/>
          </a:prstGeom>
          <a:solidFill>
            <a:srgbClr val="1A90DD"/>
          </a:solidFill>
          <a:ln>
            <a:noFill/>
          </a:ln>
        </p:spPr>
        <p:txBody>
          <a:bodyPr wrap="square" lIns="749" tIns="749" rIns="749" bIns="749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Grass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7" name="Shape 303">
            <a:extLst>
              <a:ext uri="{FF2B5EF4-FFF2-40B4-BE49-F238E27FC236}">
                <a16:creationId xmlns:a16="http://schemas.microsoft.com/office/drawing/2014/main" id="{30F8DD9C-3979-B056-A3CB-2E1EF3CE00A0}"/>
              </a:ext>
            </a:extLst>
          </p:cNvPr>
          <p:cNvSpPr/>
          <p:nvPr/>
        </p:nvSpPr>
        <p:spPr>
          <a:xfrm>
            <a:off x="27582548" y="29136832"/>
            <a:ext cx="3611206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" name="Text 304">
            <a:extLst>
              <a:ext uri="{FF2B5EF4-FFF2-40B4-BE49-F238E27FC236}">
                <a16:creationId xmlns:a16="http://schemas.microsoft.com/office/drawing/2014/main" id="{CDB41E9D-0A18-8818-9CDC-2305C27CE1EF}"/>
              </a:ext>
            </a:extLst>
          </p:cNvPr>
          <p:cNvSpPr/>
          <p:nvPr/>
        </p:nvSpPr>
        <p:spPr>
          <a:xfrm>
            <a:off x="27582548" y="29211908"/>
            <a:ext cx="3611206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50.96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9" name="Shape 305">
            <a:extLst>
              <a:ext uri="{FF2B5EF4-FFF2-40B4-BE49-F238E27FC236}">
                <a16:creationId xmlns:a16="http://schemas.microsoft.com/office/drawing/2014/main" id="{C4E0A513-693A-E064-6E41-105ABE73AE22}"/>
              </a:ext>
            </a:extLst>
          </p:cNvPr>
          <p:cNvSpPr/>
          <p:nvPr/>
        </p:nvSpPr>
        <p:spPr>
          <a:xfrm>
            <a:off x="27582548" y="30394365"/>
            <a:ext cx="3611206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0" name="Text 306">
            <a:extLst>
              <a:ext uri="{FF2B5EF4-FFF2-40B4-BE49-F238E27FC236}">
                <a16:creationId xmlns:a16="http://schemas.microsoft.com/office/drawing/2014/main" id="{D4837026-88C9-D818-03AC-88F0BA888414}"/>
              </a:ext>
            </a:extLst>
          </p:cNvPr>
          <p:cNvSpPr/>
          <p:nvPr/>
        </p:nvSpPr>
        <p:spPr>
          <a:xfrm>
            <a:off x="27582548" y="30469440"/>
            <a:ext cx="3611206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51.38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1" name="Shape 307">
            <a:extLst>
              <a:ext uri="{FF2B5EF4-FFF2-40B4-BE49-F238E27FC236}">
                <a16:creationId xmlns:a16="http://schemas.microsoft.com/office/drawing/2014/main" id="{BAEC2481-DEE1-2A68-AB7D-679512012722}"/>
              </a:ext>
            </a:extLst>
          </p:cNvPr>
          <p:cNvSpPr/>
          <p:nvPr/>
        </p:nvSpPr>
        <p:spPr>
          <a:xfrm>
            <a:off x="27582548" y="31651898"/>
            <a:ext cx="3611206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2" name="Text 308">
            <a:extLst>
              <a:ext uri="{FF2B5EF4-FFF2-40B4-BE49-F238E27FC236}">
                <a16:creationId xmlns:a16="http://schemas.microsoft.com/office/drawing/2014/main" id="{95617A78-7CCA-0CF1-6AAC-1E5D88080DD6}"/>
              </a:ext>
            </a:extLst>
          </p:cNvPr>
          <p:cNvSpPr/>
          <p:nvPr/>
        </p:nvSpPr>
        <p:spPr>
          <a:xfrm>
            <a:off x="27582548" y="31726974"/>
            <a:ext cx="3611206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51.53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3" name="Shape 309">
            <a:extLst>
              <a:ext uri="{FF2B5EF4-FFF2-40B4-BE49-F238E27FC236}">
                <a16:creationId xmlns:a16="http://schemas.microsoft.com/office/drawing/2014/main" id="{E6594EA7-DC48-0D7F-CC41-30928485865C}"/>
              </a:ext>
            </a:extLst>
          </p:cNvPr>
          <p:cNvSpPr/>
          <p:nvPr/>
        </p:nvSpPr>
        <p:spPr>
          <a:xfrm>
            <a:off x="27582548" y="32909430"/>
            <a:ext cx="3611206" cy="1257533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4" name="Text 310">
            <a:extLst>
              <a:ext uri="{FF2B5EF4-FFF2-40B4-BE49-F238E27FC236}">
                <a16:creationId xmlns:a16="http://schemas.microsoft.com/office/drawing/2014/main" id="{282152E2-51A2-6786-1FEB-89A2FA8131F9}"/>
              </a:ext>
            </a:extLst>
          </p:cNvPr>
          <p:cNvSpPr/>
          <p:nvPr/>
        </p:nvSpPr>
        <p:spPr>
          <a:xfrm>
            <a:off x="27582548" y="32984507"/>
            <a:ext cx="3611206" cy="1107379"/>
          </a:xfrm>
          <a:prstGeom prst="rect">
            <a:avLst/>
          </a:prstGeom>
          <a:noFill/>
          <a:ln>
            <a:noFill/>
          </a:ln>
        </p:spPr>
        <p:txBody>
          <a:bodyPr wrap="square" lIns="374" tIns="374" rIns="374" bIns="37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1C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51.96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9" name="Shape 232">
            <a:extLst>
              <a:ext uri="{FF2B5EF4-FFF2-40B4-BE49-F238E27FC236}">
                <a16:creationId xmlns:a16="http://schemas.microsoft.com/office/drawing/2014/main" id="{79C8A50D-3274-95E8-EE1A-A7A959B4F392}"/>
              </a:ext>
            </a:extLst>
          </p:cNvPr>
          <p:cNvSpPr/>
          <p:nvPr/>
        </p:nvSpPr>
        <p:spPr>
          <a:xfrm>
            <a:off x="16737618" y="23173742"/>
            <a:ext cx="14442771" cy="3569232"/>
          </a:xfrm>
          <a:prstGeom prst="roundRect">
            <a:avLst>
              <a:gd name="adj" fmla="val 4902"/>
            </a:avLst>
          </a:prstGeom>
          <a:noFill/>
          <a:ln w="12700">
            <a:solidFill>
              <a:srgbClr val="1A90DD"/>
            </a:solidFill>
            <a:prstDash val="solid"/>
          </a:ln>
        </p:spPr>
        <p:txBody>
          <a:bodyPr/>
          <a:lstStyle/>
          <a:p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0" name="Shape 232">
            <a:extLst>
              <a:ext uri="{FF2B5EF4-FFF2-40B4-BE49-F238E27FC236}">
                <a16:creationId xmlns:a16="http://schemas.microsoft.com/office/drawing/2014/main" id="{FF9C8F6B-E2C9-DBAC-4DBF-A30778B1B4FC}"/>
              </a:ext>
            </a:extLst>
          </p:cNvPr>
          <p:cNvSpPr/>
          <p:nvPr/>
        </p:nvSpPr>
        <p:spPr>
          <a:xfrm>
            <a:off x="16737618" y="27805957"/>
            <a:ext cx="14442771" cy="6305842"/>
          </a:xfrm>
          <a:prstGeom prst="roundRect">
            <a:avLst>
              <a:gd name="adj" fmla="val 4902"/>
            </a:avLst>
          </a:prstGeom>
          <a:noFill/>
          <a:ln w="12700">
            <a:solidFill>
              <a:srgbClr val="1A90DD"/>
            </a:solidFill>
            <a:prstDash val="solid"/>
          </a:ln>
        </p:spPr>
        <p:txBody>
          <a:bodyPr/>
          <a:lstStyle/>
          <a:p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6d2ced1-3ee8-44b2-ae76-43bc12890235"/>
  <p:tag name="COMMONDATA" val="eyJoZGlkIjoiMjlhYjI1Y2VmZTI4MDhmOWFjOGZlMGM2MzM1YzdiM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46.310236220473,&quot;width&quot;:46672.4409448818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46.310236220473,&quot;width&quot;:46672.4409448818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46.310236220473,&quot;width&quot;:46672.44094488189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441</TotalTime>
  <Words>263</Words>
  <Application>Microsoft Office PowerPoint</Application>
  <PresentationFormat>自定义</PresentationFormat>
  <Paragraphs>87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Arilal</vt:lpstr>
      <vt:lpstr>Arial</vt:lpstr>
      <vt:lpstr>Calibri</vt:lpstr>
      <vt:lpstr>Calibri Light</vt:lpstr>
      <vt:lpstr>Cambria Math</vt:lpstr>
      <vt:lpstr>Wingdings</vt:lpstr>
      <vt:lpstr>Office 主题​​</vt:lpstr>
      <vt:lpstr>Dynamic Dictionary Learning for Remote Sensing Image Segmentation  Xuechao Zou, Yue Li, Shun Zhang, Kai Li, Shiying Wang, Pin Tao, Junliang Xing, Congyan Lang   Beijing Jiaotong University  |  Qinghai University  |  Tsinghua University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THU</cp:lastModifiedBy>
  <cp:revision>92</cp:revision>
  <dcterms:created xsi:type="dcterms:W3CDTF">2026-04-29T04:44:22Z</dcterms:created>
  <dcterms:modified xsi:type="dcterms:W3CDTF">2026-04-29T12:26:14Z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FDC70ECBE0A56216A58CF169AFB7CF60_43</vt:lpwstr>
  </property>
  <property fmtid="{D5CDD505-2E9C-101B-9397-08002B2CF9AE}" pid="3" name="KSOProductBuildVer">
    <vt:lpwstr>2052-12.1.25867.25867</vt:lpwstr>
  </property>
</Properties>
</file>